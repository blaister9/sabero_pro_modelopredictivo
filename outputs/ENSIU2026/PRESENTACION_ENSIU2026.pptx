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ESCENA 1: 0,00 a 6,30 segundos.</a:t>
            </a:r>
          </a:p>
          <a:p>
            <a:r>
              <a:rPr lang="es-CO"/>
              <a:t>Voz: ¿Y si una universidad pudiera estimar, con su historial, cómo le va a ir en el Saber Pro?</a:t>
            </a:r>
          </a:p>
          <a:p>
            <a:r>
              <a:rPr lang="es-CO"/>
              <a:t>La pista continua VOZ_ENSIU_60s.wav y CRONOMETRAJE.json fijan la sincronización del MP4.</a:t>
            </a:r>
          </a:p>
          <a:p>
            <a:r>
              <a:rPr lang="es-CO"/>
              <a:t>Fuentes: docs/ENSIU2026/Guion_Audiovisual_ENSIU2026.docx y Comunicacion_Ponencia_ENSIU2026.docx. Métricas: outputs/metrics/baseline_metrics.csv, metricas_lgbm_por_depto.csv y outputs/reports/decision_transformer.txt. Gráficos originales: outputs/figures/lgbm_predicho_vs_real.png y lgbm_error_por_departamento.png.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ESCENA 2: 6,30 a 10,00 segundos.</a:t>
            </a:r>
          </a:p>
          <a:p>
            <a:r>
              <a:rPr lang="es-CO"/>
              <a:t>Voz: Hoy, con Inteligencia Artificial, ya es posible.</a:t>
            </a:r>
          </a:p>
          <a:p>
            <a:r>
              <a:rPr lang="es-CO"/>
              <a:t>La pista continua VOZ_ENSIU_60s.wav y CRONOMETRAJE.json fijan la sincronización del MP4.</a:t>
            </a:r>
          </a:p>
          <a:p>
            <a:r>
              <a:rPr lang="es-CO"/>
              <a:t>Fuentes: docs/ENSIU2026/Guion_Audiovisual_ENSIU2026.docx y Comunicacion_Ponencia_ENSIU2026.docx. Métricas: outputs/metrics/baseline_metrics.csv, metricas_lgbm_por_depto.csv y outputs/reports/decision_transformer.txt. Gráficos originales: outputs/figures/lgbm_predicho_vs_real.png y lgbm_error_por_departamento.png.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ESCENA 3: 10,00 a 17,00 segundos.</a:t>
            </a:r>
          </a:p>
          <a:p>
            <a:r>
              <a:rPr lang="es-CO"/>
              <a:t>Voz: Analizamos cinco años de datos abiertos del ICFES, más de ciento veintisiete mil registros,</a:t>
            </a:r>
          </a:p>
          <a:p>
            <a:r>
              <a:rPr lang="es-CO"/>
              <a:t>La pista continua VOZ_ENSIU_60s.wav y CRONOMETRAJE.json fijan la sincronización del MP4.</a:t>
            </a:r>
          </a:p>
          <a:p>
            <a:r>
              <a:rPr lang="es-CO"/>
              <a:t>Fuentes: docs/ENSIU2026/Guion_Audiovisual_ENSIU2026.docx y Comunicacion_Ponencia_ENSIU2026.docx. Métricas: outputs/metrics/baseline_metrics.csv, metricas_lgbm_por_depto.csv y outputs/reports/decision_transformer.txt. Gráficos originales: outputs/figures/lgbm_predicho_vs_real.png y lgbm_error_por_departamento.png.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ESCENA 4: 17,00 a 26,00 segundos.</a:t>
            </a:r>
          </a:p>
          <a:p>
            <a:r>
              <a:rPr lang="es-CO"/>
              <a:t>Voz: y construimos un modelo con un error cuadrático medio de nueve coma treinta y tres puntos.</a:t>
            </a:r>
          </a:p>
          <a:p>
            <a:r>
              <a:rPr lang="es-CO"/>
              <a:t>La pista continua VOZ_ENSIU_60s.wav y CRONOMETRAJE.json fijan la sincronización del MP4.</a:t>
            </a:r>
          </a:p>
          <a:p>
            <a:r>
              <a:rPr lang="es-CO"/>
              <a:t>Fuentes: docs/ENSIU2026/Guion_Audiovisual_ENSIU2026.docx y Comunicacion_Ponencia_ENSIU2026.docx. Métricas: outputs/metrics/baseline_metrics.csv, metricas_lgbm_por_depto.csv y outputs/reports/decision_transformer.txt. Gráficos originales: outputs/figures/lgbm_predicho_vs_real.png y lgbm_error_por_departamento.png.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ESCENA 5: 26,00 a 40,00 segundos.</a:t>
            </a:r>
          </a:p>
          <a:p>
            <a:r>
              <a:rPr lang="es-CO"/>
              <a:t>Voz: Pero encontramos algo más importante: los mayores errores están en Sucre, Chocó y Putumayo. Este hallazgo orienta dónde reforzar los datos y el acompañamiento.</a:t>
            </a:r>
          </a:p>
          <a:p>
            <a:r>
              <a:rPr lang="es-CO"/>
              <a:t>La pista continua VOZ_ENSIU_60s.wav y CRONOMETRAJE.json fijan la sincronización del MP4.</a:t>
            </a:r>
          </a:p>
          <a:p>
            <a:r>
              <a:rPr lang="es-CO"/>
              <a:t>Fuentes: docs/ENSIU2026/Guion_Audiovisual_ENSIU2026.docx y Comunicacion_Ponencia_ENSIU2026.docx. Métricas: outputs/metrics/baseline_metrics.csv, metricas_lgbm_por_depto.csv y outputs/reports/decision_transformer.txt. Gráficos originales: outputs/figures/lgbm_predicho_vs_real.png y lgbm_error_por_departamento.png.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ESCENA 6: 40,00 a 49,30 segundos.</a:t>
            </a:r>
          </a:p>
          <a:p>
            <a:r>
              <a:rPr lang="es-CO"/>
              <a:t>Voz: Esto no es solo un modelo: es una alerta temprana para que las universidades actúen a tiempo, justo donde más se necesita.</a:t>
            </a:r>
          </a:p>
          <a:p>
            <a:r>
              <a:rPr lang="es-CO"/>
              <a:t>La pista continua VOZ_ENSIU_60s.wav y CRONOMETRAJE.json fijan la sincronización del MP4.</a:t>
            </a:r>
          </a:p>
          <a:p>
            <a:r>
              <a:rPr lang="es-CO"/>
              <a:t>Fuentes: docs/ENSIU2026/Guion_Audiovisual_ENSIU2026.docx y Comunicacion_Ponencia_ENSIU2026.docx. Métricas: outputs/metrics/baseline_metrics.csv, metricas_lgbm_por_depto.csv y outputs/reports/decision_transformer.txt. Gráficos originales: outputs/figures/lgbm_predicho_vs_real.png y lgbm_error_por_departamento.png.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ESCENA 7: 49,30 a 53,20 segundos.</a:t>
            </a:r>
          </a:p>
          <a:p>
            <a:r>
              <a:rPr lang="es-CO"/>
              <a:t>Voz: Inteligencia Artificial al servicio de la equidad educativa.</a:t>
            </a:r>
          </a:p>
          <a:p>
            <a:r>
              <a:rPr lang="es-CO"/>
              <a:t>La pista continua VOZ_ENSIU_60s.wav y CRONOMETRAJE.json fijan la sincronización del MP4.</a:t>
            </a:r>
          </a:p>
          <a:p>
            <a:r>
              <a:rPr lang="es-CO"/>
              <a:t>Fuentes: docs/ENSIU2026/Guion_Audiovisual_ENSIU2026.docx y Comunicacion_Ponencia_ENSIU2026.docx. Métricas: outputs/metrics/baseline_metrics.csv, metricas_lgbm_por_depto.csv y outputs/reports/decision_transformer.txt. Gráficos originales: outputs/figures/lgbm_predicho_vs_real.png y lgbm_error_por_departamento.png.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ESCENA 8: 53,20 a 60,00 segundos.</a:t>
            </a:r>
          </a:p>
          <a:p>
            <a:r>
              <a:rPr lang="es-CO"/>
              <a:t>Voz: Un trabajo de UNIMINUTO para las Misiones de Conocimiento. ENSIU dos mil veintiséis.</a:t>
            </a:r>
          </a:p>
          <a:p>
            <a:r>
              <a:rPr lang="es-CO"/>
              <a:t>La pista continua VOZ_ENSIU_60s.wav y CRONOMETRAJE.json fijan la sincronización del MP4.</a:t>
            </a:r>
          </a:p>
          <a:p>
            <a:r>
              <a:rPr lang="es-CO"/>
              <a:t>Fuentes: docs/ENSIU2026/Guion_Audiovisual_ENSIU2026.docx y Comunicacion_Ponencia_ENSIU2026.docx. Métricas: outputs/metrics/baseline_metrics.csv, metricas_lgbm_por_depto.csv y outputs/reports/decision_transformer.txt. Gráficos originales: outputs/figures/lgbm_predicho_vs_real.png y lgbm_error_por_departamento.png.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8C7CBF2-4804-4D98-A796-779F25458197}"/>
              </a:ext>
            </a:extLst>
          </p:cNvPr>
          <p:cNvSpPr>
            <a:spLocks noGrp="1"/>
          </p:cNvSpPr>
          <p:nvPr/>
        </p:nvSpPr>
        <p:spPr>
          <a:xfrm>
            <a:off x="742950" y="1162050"/>
            <a:ext cx="10572750" cy="2552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¿Anticipar el</a:t>
            </a:r>
          </a:p>
          <a:p>
            <a:pPr>
              <a:defRPr sz="8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Saber Pro?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FA58207-4E85-4F86-B33A-408DDD096CD4}"/>
              </a:ext>
            </a:extLst>
          </p:cNvPr>
          <p:cNvSpPr>
            <a:spLocks noGrp="1"/>
          </p:cNvSpPr>
          <p:nvPr/>
        </p:nvSpPr>
        <p:spPr>
          <a:xfrm>
            <a:off x="781050" y="4486275"/>
            <a:ext cx="103822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0">
                <a:solidFill>
                  <a:srgbClr val="8EDDD0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8EDDD0"/>
                </a:solidFill>
                <a:latin typeface="Aptos"/>
                <a:ea typeface="Aptos"/>
                <a:cs typeface="Aptos"/>
              </a:rPr>
              <a:t>Con el historial de cada programa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E0CA563-0F18-4852-990C-302ABDA6830D}"/>
              </a:ext>
            </a:extLst>
          </p:cNvPr>
          <p:cNvSpPr>
            <a:spLocks noGrp="1"/>
          </p:cNvSpPr>
          <p:nvPr/>
        </p:nvSpPr>
        <p:spPr>
          <a:xfrm>
            <a:off x="781050" y="5981700"/>
            <a:ext cx="10191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C5D3D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C5D3D7"/>
                </a:solidFill>
                <a:latin typeface="Aptos"/>
                <a:ea typeface="Aptos"/>
                <a:cs typeface="Aptos"/>
              </a:rPr>
              <a:t>Predicción de resultados académicos</a:t>
            </a:r>
          </a:p>
        </p:txBody>
      </p:sp>
    </p:spTree>
    <p:extLst>
      <p:ext uri="{BB962C8B-B14F-4D97-AF65-F5344CB8AC3E}">
        <p14:creationId xmlns:p14="http://schemas.microsoft.com/office/powerpoint/2010/main" val="2951504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300"/>
    </mc:Choice>
    <mc:Fallback>
      <p:transition spd="slow" advClick="0" advTm="63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A24A005-0F82-49E3-B50C-FCAB0673AD83}"/>
              </a:ext>
            </a:extLst>
          </p:cNvPr>
          <p:cNvSpPr>
            <a:spLocks noGrp="1"/>
          </p:cNvSpPr>
          <p:nvPr/>
        </p:nvSpPr>
        <p:spPr>
          <a:xfrm>
            <a:off x="762000" y="1171575"/>
            <a:ext cx="10668000" cy="2209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7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Inteligencia</a:t>
            </a:r>
          </a:p>
          <a:p>
            <a:pPr>
              <a:defRPr sz="7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Artificial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B7E9206-6518-46A5-B87F-1E748DCA6141}"/>
              </a:ext>
            </a:extLst>
          </p:cNvPr>
          <p:cNvSpPr>
            <a:spLocks noGrp="1"/>
          </p:cNvSpPr>
          <p:nvPr/>
        </p:nvSpPr>
        <p:spPr>
          <a:xfrm>
            <a:off x="781050" y="4067175"/>
            <a:ext cx="10477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75" b="0">
                <a:solidFill>
                  <a:srgbClr val="8EDDD0"/>
                </a:solidFill>
                <a:latin typeface="Aptos"/>
                <a:ea typeface="Aptos"/>
                <a:cs typeface="Aptos"/>
              </a:defRPr>
            </a:pPr>
            <a:r>
              <a:rPr sz="3375" b="0">
                <a:solidFill>
                  <a:srgbClr val="8EDDD0"/>
                </a:solidFill>
                <a:latin typeface="Aptos"/>
                <a:ea typeface="Aptos"/>
                <a:cs typeface="Aptos"/>
              </a:rPr>
              <a:t>Para estimar el próximo resultado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BF07DC1-E861-4AAF-BBFC-C798D1E4CDAF}"/>
              </a:ext>
            </a:extLst>
          </p:cNvPr>
          <p:cNvSpPr>
            <a:spLocks noGrp="1"/>
          </p:cNvSpPr>
          <p:nvPr/>
        </p:nvSpPr>
        <p:spPr>
          <a:xfrm>
            <a:off x="781050" y="5886450"/>
            <a:ext cx="10572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D2DDE0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D2DDE0"/>
                </a:solidFill>
                <a:latin typeface="Aptos"/>
                <a:ea typeface="Aptos"/>
                <a:cs typeface="Aptos"/>
              </a:rPr>
              <a:t>Evaluación retrospectiva del siguiente año</a:t>
            </a:r>
          </a:p>
        </p:txBody>
      </p:sp>
    </p:spTree>
    <p:extLst>
      <p:ext uri="{BB962C8B-B14F-4D97-AF65-F5344CB8AC3E}">
        <p14:creationId xmlns:p14="http://schemas.microsoft.com/office/powerpoint/2010/main" val="732037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700"/>
    </mc:Choice>
    <mc:Fallback>
      <p:transition spd="slow" advClick="0" advTm="37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C18641BA-110F-4ECA-B3E7-F8F0FA6508AC}"/>
              </a:ext>
            </a:extLst>
          </p:cNvPr>
          <p:cNvSpPr>
            <a:spLocks noGrp="1"/>
          </p:cNvSpPr>
          <p:nvPr/>
        </p:nvSpPr>
        <p:spPr>
          <a:xfrm>
            <a:off x="685800" y="504825"/>
            <a:ext cx="10858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53343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53343"/>
                </a:solidFill>
                <a:latin typeface="Aptos"/>
                <a:ea typeface="Aptos"/>
                <a:cs typeface="Aptos"/>
              </a:rPr>
              <a:t>Datos abiertos del ICFES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B4F81D4-FEAE-480F-8A7B-62CDEF3BACC0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477500" cy="1685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650" b="1">
                <a:solidFill>
                  <a:srgbClr val="087C83"/>
                </a:solidFill>
                <a:latin typeface="Aptos"/>
                <a:ea typeface="Aptos"/>
                <a:cs typeface="Aptos"/>
              </a:defRPr>
            </a:pPr>
            <a:r>
              <a:rPr sz="10650" b="1">
                <a:solidFill>
                  <a:srgbClr val="087C83"/>
                </a:solidFill>
                <a:latin typeface="Aptos"/>
                <a:ea typeface="Aptos"/>
                <a:cs typeface="Aptos"/>
              </a:rPr>
              <a:t>127.716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037B63E-F247-4AF8-B648-EA7175F20C7C}"/>
              </a:ext>
            </a:extLst>
          </p:cNvPr>
          <p:cNvSpPr>
            <a:spLocks noGrp="1"/>
          </p:cNvSpPr>
          <p:nvPr/>
        </p:nvSpPr>
        <p:spPr>
          <a:xfrm>
            <a:off x="762000" y="3181350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0">
                <a:solidFill>
                  <a:srgbClr val="153343"/>
                </a:solidFill>
                <a:latin typeface="Aptos"/>
                <a:ea typeface="Aptos"/>
                <a:cs typeface="Aptos"/>
              </a:defRPr>
            </a:pPr>
            <a:r>
              <a:rPr sz="3225" b="0">
                <a:solidFill>
                  <a:srgbClr val="153343"/>
                </a:solidFill>
                <a:latin typeface="Aptos"/>
                <a:ea typeface="Aptos"/>
                <a:cs typeface="Aptos"/>
              </a:rPr>
              <a:t>observaciones agregadas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ACB9918-1F95-4B57-9914-7F75D189C1C2}"/>
              </a:ext>
            </a:extLst>
          </p:cNvPr>
          <p:cNvSpPr>
            <a:spLocks noGrp="1"/>
          </p:cNvSpPr>
          <p:nvPr/>
        </p:nvSpPr>
        <p:spPr>
          <a:xfrm>
            <a:off x="762000" y="4238625"/>
            <a:ext cx="5238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100" b="1">
                <a:solidFill>
                  <a:srgbClr val="153343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153343"/>
                </a:solidFill>
                <a:latin typeface="Aptos"/>
                <a:ea typeface="Aptos"/>
                <a:cs typeface="Aptos"/>
              </a:rPr>
              <a:t>2020–2024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0C0FEBF-9A3E-470B-BDD6-F71EAE8A7446}"/>
              </a:ext>
            </a:extLst>
          </p:cNvPr>
          <p:cNvSpPr>
            <a:spLocks noGrp="1"/>
          </p:cNvSpPr>
          <p:nvPr/>
        </p:nvSpPr>
        <p:spPr>
          <a:xfrm>
            <a:off x="6477000" y="4343400"/>
            <a:ext cx="50482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49606C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49606C"/>
                </a:solidFill>
                <a:latin typeface="Aptos"/>
                <a:ea typeface="Aptos"/>
                <a:cs typeface="Aptos"/>
              </a:rPr>
              <a:t>Entrenamiento 2020–2023</a:t>
            </a:r>
          </a:p>
          <a:p>
            <a:pPr>
              <a:defRPr sz="2175" b="0">
                <a:solidFill>
                  <a:srgbClr val="49606C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49606C"/>
                </a:solidFill>
                <a:latin typeface="Aptos"/>
                <a:ea typeface="Aptos"/>
                <a:cs typeface="Aptos"/>
              </a:rPr>
              <a:t>Prueba 2024: 28.762 observaciones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FA8E59B-AB15-49D2-A548-BD6DFBE3E46C}"/>
              </a:ext>
            </a:extLst>
          </p:cNvPr>
          <p:cNvSpPr>
            <a:spLocks noGrp="1"/>
          </p:cNvSpPr>
          <p:nvPr/>
        </p:nvSpPr>
        <p:spPr>
          <a:xfrm>
            <a:off x="762000" y="5962650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49606C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9606C"/>
                </a:solidFill>
                <a:latin typeface="Aptos"/>
                <a:ea typeface="Aptos"/>
                <a:cs typeface="Aptos"/>
              </a:rPr>
              <a:t>Institución, programa, prueba y año</a:t>
            </a:r>
          </a:p>
        </p:txBody>
      </p:sp>
    </p:spTree>
    <p:extLst>
      <p:ext uri="{BB962C8B-B14F-4D97-AF65-F5344CB8AC3E}">
        <p14:creationId xmlns:p14="http://schemas.microsoft.com/office/powerpoint/2010/main" val="5840699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7000"/>
    </mc:Choice>
    <mc:Fallback>
      <p:transition spd="slow" advClick="0" advTm="7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DDC60A6B-9420-45AC-BF8E-C74FCFD78284}"/>
              </a:ext>
            </a:extLst>
          </p:cNvPr>
          <p:cNvSpPr>
            <a:spLocks noGrp="1"/>
          </p:cNvSpPr>
          <p:nvPr/>
        </p:nvSpPr>
        <p:spPr>
          <a:xfrm>
            <a:off x="523875" y="30480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53343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53343"/>
                </a:solidFill>
                <a:latin typeface="Aptos"/>
                <a:ea typeface="Aptos"/>
                <a:cs typeface="Aptos"/>
              </a:rPr>
              <a:t>LightGBM: predicho y real</a:t>
            </a: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8625" y="1083994"/>
            <a:ext cx="5286375" cy="5271037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EF3EEC71-79C7-4FD6-88A3-48466A69948E}"/>
              </a:ext>
            </a:extLst>
          </p:cNvPr>
          <p:cNvSpPr>
            <a:spLocks noGrp="1"/>
          </p:cNvSpPr>
          <p:nvPr/>
        </p:nvSpPr>
        <p:spPr>
          <a:xfrm>
            <a:off x="6229350" y="1038225"/>
            <a:ext cx="233362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49606C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49606C"/>
                </a:solidFill>
                <a:latin typeface="Aptos"/>
                <a:ea typeface="Aptos"/>
                <a:cs typeface="Aptos"/>
              </a:rPr>
              <a:t>R²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E66CA38-1F28-4106-98DF-CA2849869605}"/>
              </a:ext>
            </a:extLst>
          </p:cNvPr>
          <p:cNvSpPr>
            <a:spLocks noGrp="1"/>
          </p:cNvSpPr>
          <p:nvPr/>
        </p:nvSpPr>
        <p:spPr>
          <a:xfrm>
            <a:off x="6172200" y="1466850"/>
            <a:ext cx="5238750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000" b="1">
                <a:solidFill>
                  <a:srgbClr val="087C83"/>
                </a:solidFill>
                <a:latin typeface="Aptos"/>
                <a:ea typeface="Aptos"/>
                <a:cs typeface="Aptos"/>
              </a:defRPr>
            </a:pPr>
            <a:r>
              <a:rPr sz="6000" b="1">
                <a:solidFill>
                  <a:srgbClr val="087C83"/>
                </a:solidFill>
                <a:latin typeface="Aptos"/>
                <a:ea typeface="Aptos"/>
                <a:cs typeface="Aptos"/>
              </a:rPr>
              <a:t>0,706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7E32FFE-28D6-4F91-8F7F-8984CC36C2F2}"/>
              </a:ext>
            </a:extLst>
          </p:cNvPr>
          <p:cNvSpPr>
            <a:spLocks noGrp="1"/>
          </p:cNvSpPr>
          <p:nvPr/>
        </p:nvSpPr>
        <p:spPr>
          <a:xfrm>
            <a:off x="6229350" y="2495550"/>
            <a:ext cx="176212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49606C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49606C"/>
                </a:solidFill>
                <a:latin typeface="Aptos"/>
                <a:ea typeface="Aptos"/>
                <a:cs typeface="Aptos"/>
              </a:rPr>
              <a:t>RMSE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2E85DFA-639F-4C98-A217-B73C67A20B0E}"/>
              </a:ext>
            </a:extLst>
          </p:cNvPr>
          <p:cNvSpPr>
            <a:spLocks noGrp="1"/>
          </p:cNvSpPr>
          <p:nvPr/>
        </p:nvSpPr>
        <p:spPr>
          <a:xfrm>
            <a:off x="6172200" y="2924175"/>
            <a:ext cx="545782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 b="1">
                <a:solidFill>
                  <a:srgbClr val="153343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53343"/>
                </a:solidFill>
                <a:latin typeface="Aptos"/>
                <a:ea typeface="Aptos"/>
                <a:cs typeface="Aptos"/>
              </a:rPr>
              <a:t>9,33 puntos</a:t>
            </a:r>
          </a:p>
        </p:txBody>
      </p:sp>
      <p:graphicFrame>
        <p:nvGraphicFramePr>
          <p:cNvPr id="15" name="Tabla 14"/>
          <p:cNvGraphicFramePr/>
          <p:nvPr/>
        </p:nvGraphicFramePr>
        <p:xfrm>
          <a:off x="6191250" y="3962400"/>
          <a:ext cx="5391150" cy="192405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81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Modelo</a:t>
                      </a:r>
                    </a:p>
                  </a:txBody>
                  <a:tcPr>
                    <a:solidFill>
                      <a:srgbClr val="10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RMSE</a:t>
                      </a:r>
                    </a:p>
                  </a:txBody>
                  <a:tcPr>
                    <a:solidFill>
                      <a:srgbClr val="102B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343"/>
                          </a:solidFill>
                          <a:latin typeface="Aptos"/>
                          <a:ea typeface="Aptos"/>
                          <a:cs typeface="Aptos"/>
                        </a:rPr>
                        <a:t>LightGBM</a:t>
                      </a:r>
                    </a:p>
                  </a:txBody>
                  <a:tcPr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343"/>
                          </a:solidFill>
                          <a:latin typeface="Aptos"/>
                          <a:ea typeface="Aptos"/>
                          <a:cs typeface="Aptos"/>
                        </a:rPr>
                        <a:t>9,33</a:t>
                      </a:r>
                    </a:p>
                  </a:txBody>
                  <a:tcPr>
                    <a:solidFill>
                      <a:srgbClr val="E4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343"/>
                          </a:solidFill>
                          <a:latin typeface="Aptos"/>
                          <a:ea typeface="Aptos"/>
                          <a:cs typeface="Aptos"/>
                        </a:rPr>
                        <a:t>Lasso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343"/>
                          </a:solidFill>
                          <a:latin typeface="Aptos"/>
                          <a:ea typeface="Aptos"/>
                          <a:cs typeface="Aptos"/>
                        </a:rPr>
                        <a:t>10,07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343"/>
                          </a:solidFill>
                          <a:latin typeface="Aptos"/>
                          <a:ea typeface="Aptos"/>
                          <a:cs typeface="Aptos"/>
                        </a:rPr>
                        <a:t>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343"/>
                          </a:solidFill>
                          <a:latin typeface="Aptos"/>
                          <a:ea typeface="Aptos"/>
                          <a:cs typeface="Aptos"/>
                        </a:rPr>
                        <a:t>10,23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343"/>
                          </a:solidFill>
                          <a:latin typeface="Aptos"/>
                          <a:ea typeface="Aptos"/>
                          <a:cs typeface="Aptos"/>
                        </a:rPr>
                        <a:t>Transformer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343"/>
                          </a:solidFill>
                          <a:latin typeface="Aptos"/>
                          <a:ea typeface="Aptos"/>
                          <a:cs typeface="Aptos"/>
                        </a:rPr>
                        <a:t>16,86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ángulo 7">
            <a:extLst>
              <a:ext uri="{FF2B5EF4-FFF2-40B4-BE49-F238E27FC236}">
                <a16:creationId xmlns:a16="http://schemas.microsoft.com/office/drawing/2014/main" id="{6901BDA9-5C50-413C-9D6C-7E3A899EBA4E}"/>
              </a:ext>
            </a:extLst>
          </p:cNvPr>
          <p:cNvSpPr>
            <a:spLocks noGrp="1"/>
          </p:cNvSpPr>
          <p:nvPr/>
        </p:nvSpPr>
        <p:spPr>
          <a:xfrm>
            <a:off x="6210300" y="6096000"/>
            <a:ext cx="543877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06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9606C"/>
                </a:solidFill>
                <a:latin typeface="Aptos"/>
                <a:ea typeface="Aptos"/>
                <a:cs typeface="Aptos"/>
              </a:rPr>
              <a:t>Prueba 2024. Menor RMSE indica menor error.</a:t>
            </a:r>
          </a:p>
        </p:txBody>
      </p:sp>
    </p:spTree>
    <p:extLst>
      <p:ext uri="{BB962C8B-B14F-4D97-AF65-F5344CB8AC3E}">
        <p14:creationId xmlns:p14="http://schemas.microsoft.com/office/powerpoint/2010/main" val="572559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9000"/>
    </mc:Choice>
    <mc:Fallback>
      <p:transition spd="slow" advClick="0" advTm="9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2C5746B5-CC2C-4FB5-BB3A-8822B652FE11}"/>
              </a:ext>
            </a:extLst>
          </p:cNvPr>
          <p:cNvSpPr>
            <a:spLocks noGrp="1"/>
          </p:cNvSpPr>
          <p:nvPr/>
        </p:nvSpPr>
        <p:spPr>
          <a:xfrm>
            <a:off x="523875" y="295275"/>
            <a:ext cx="1114425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53343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53343"/>
                </a:solidFill>
                <a:latin typeface="Aptos"/>
                <a:ea typeface="Aptos"/>
                <a:cs typeface="Aptos"/>
              </a:rPr>
              <a:t>El error cambia por territorio</a:t>
            </a:r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30644" y="1152525"/>
            <a:ext cx="6377662" cy="5553075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A01E809F-7B0C-4127-AED4-23D8CCAFC3E1}"/>
              </a:ext>
            </a:extLst>
          </p:cNvPr>
          <p:cNvSpPr>
            <a:spLocks noGrp="1"/>
          </p:cNvSpPr>
          <p:nvPr/>
        </p:nvSpPr>
        <p:spPr>
          <a:xfrm>
            <a:off x="7000875" y="1162050"/>
            <a:ext cx="46672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49606C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49606C"/>
                </a:solidFill>
                <a:latin typeface="Aptos"/>
                <a:ea typeface="Aptos"/>
                <a:cs typeface="Aptos"/>
              </a:rPr>
              <a:t>Mayores errores reportados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B50AC9E-E102-4E86-A4E1-72B75C566B1A}"/>
              </a:ext>
            </a:extLst>
          </p:cNvPr>
          <p:cNvSpPr>
            <a:spLocks noGrp="1"/>
          </p:cNvSpPr>
          <p:nvPr/>
        </p:nvSpPr>
        <p:spPr>
          <a:xfrm>
            <a:off x="7000875" y="2076450"/>
            <a:ext cx="4667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533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53343"/>
                </a:solidFill>
                <a:latin typeface="Aptos"/>
                <a:ea typeface="Aptos"/>
                <a:cs typeface="Aptos"/>
              </a:rPr>
              <a:t>Sucre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9C797AC-57CD-489A-A58A-0ECEC8B4C5C7}"/>
              </a:ext>
            </a:extLst>
          </p:cNvPr>
          <p:cNvSpPr>
            <a:spLocks noGrp="1"/>
          </p:cNvSpPr>
          <p:nvPr/>
        </p:nvSpPr>
        <p:spPr>
          <a:xfrm>
            <a:off x="6972300" y="2486025"/>
            <a:ext cx="25908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750" b="1">
                <a:solidFill>
                  <a:srgbClr val="087C83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087C83"/>
                </a:solidFill>
                <a:latin typeface="Aptos"/>
                <a:ea typeface="Aptos"/>
                <a:cs typeface="Aptos"/>
              </a:rPr>
              <a:t>13,29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2E31835-1141-428F-BFDE-040B6038F182}"/>
              </a:ext>
            </a:extLst>
          </p:cNvPr>
          <p:cNvSpPr>
            <a:spLocks noGrp="1"/>
          </p:cNvSpPr>
          <p:nvPr/>
        </p:nvSpPr>
        <p:spPr>
          <a:xfrm>
            <a:off x="9715500" y="2628900"/>
            <a:ext cx="19050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49606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9606C"/>
                </a:solidFill>
                <a:latin typeface="Aptos"/>
                <a:ea typeface="Aptos"/>
                <a:cs typeface="Aptos"/>
              </a:rPr>
              <a:t>n = 366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76A45C9-A133-427A-B212-C3574B5D0BDC}"/>
              </a:ext>
            </a:extLst>
          </p:cNvPr>
          <p:cNvSpPr>
            <a:spLocks noGrp="1"/>
          </p:cNvSpPr>
          <p:nvPr/>
        </p:nvSpPr>
        <p:spPr>
          <a:xfrm>
            <a:off x="7000875" y="3181350"/>
            <a:ext cx="4667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533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53343"/>
                </a:solidFill>
                <a:latin typeface="Aptos"/>
                <a:ea typeface="Aptos"/>
                <a:cs typeface="Aptos"/>
              </a:rPr>
              <a:t>Chocó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C0B6278-951A-452D-8144-2A863DB52710}"/>
              </a:ext>
            </a:extLst>
          </p:cNvPr>
          <p:cNvSpPr>
            <a:spLocks noGrp="1"/>
          </p:cNvSpPr>
          <p:nvPr/>
        </p:nvSpPr>
        <p:spPr>
          <a:xfrm>
            <a:off x="6972300" y="3590925"/>
            <a:ext cx="25908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750" b="1">
                <a:solidFill>
                  <a:srgbClr val="087C83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087C83"/>
                </a:solidFill>
                <a:latin typeface="Aptos"/>
                <a:ea typeface="Aptos"/>
                <a:cs typeface="Aptos"/>
              </a:rPr>
              <a:t>12,03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0AB6E8F-1311-4330-A85E-5E10EE5B1DB2}"/>
              </a:ext>
            </a:extLst>
          </p:cNvPr>
          <p:cNvSpPr>
            <a:spLocks noGrp="1"/>
          </p:cNvSpPr>
          <p:nvPr/>
        </p:nvSpPr>
        <p:spPr>
          <a:xfrm>
            <a:off x="9715500" y="3733800"/>
            <a:ext cx="19050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49606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9606C"/>
                </a:solidFill>
                <a:latin typeface="Aptos"/>
                <a:ea typeface="Aptos"/>
                <a:cs typeface="Aptos"/>
              </a:rPr>
              <a:t>n = 243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C2A9701-D396-4A3C-95F3-7497DD3934F9}"/>
              </a:ext>
            </a:extLst>
          </p:cNvPr>
          <p:cNvSpPr>
            <a:spLocks noGrp="1"/>
          </p:cNvSpPr>
          <p:nvPr/>
        </p:nvSpPr>
        <p:spPr>
          <a:xfrm>
            <a:off x="7000875" y="4286250"/>
            <a:ext cx="4667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533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53343"/>
                </a:solidFill>
                <a:latin typeface="Aptos"/>
                <a:ea typeface="Aptos"/>
                <a:cs typeface="Aptos"/>
              </a:rPr>
              <a:t>Putumayo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9ACFEC3-DEE5-4BC2-9618-C5EE64BF8C99}"/>
              </a:ext>
            </a:extLst>
          </p:cNvPr>
          <p:cNvSpPr>
            <a:spLocks noGrp="1"/>
          </p:cNvSpPr>
          <p:nvPr/>
        </p:nvSpPr>
        <p:spPr>
          <a:xfrm>
            <a:off x="6972300" y="4695825"/>
            <a:ext cx="25908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750" b="1">
                <a:solidFill>
                  <a:srgbClr val="087C83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087C83"/>
                </a:solidFill>
                <a:latin typeface="Aptos"/>
                <a:ea typeface="Aptos"/>
                <a:cs typeface="Aptos"/>
              </a:rPr>
              <a:t>11,18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6C9AB51-EDC9-437C-81AE-63B56DBC8312}"/>
              </a:ext>
            </a:extLst>
          </p:cNvPr>
          <p:cNvSpPr>
            <a:spLocks noGrp="1"/>
          </p:cNvSpPr>
          <p:nvPr/>
        </p:nvSpPr>
        <p:spPr>
          <a:xfrm>
            <a:off x="9715500" y="4838700"/>
            <a:ext cx="19050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49606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9606C"/>
                </a:solidFill>
                <a:latin typeface="Aptos"/>
                <a:ea typeface="Aptos"/>
                <a:cs typeface="Aptos"/>
              </a:rPr>
              <a:t>n = 54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A9A614F-6AF4-419A-84A3-D4CCF4875A52}"/>
              </a:ext>
            </a:extLst>
          </p:cNvPr>
          <p:cNvSpPr>
            <a:spLocks noGrp="1"/>
          </p:cNvSpPr>
          <p:nvPr/>
        </p:nvSpPr>
        <p:spPr>
          <a:xfrm>
            <a:off x="7000875" y="5915025"/>
            <a:ext cx="46101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49606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9606C"/>
                </a:solidFill>
                <a:latin typeface="Aptos"/>
                <a:ea typeface="Aptos"/>
                <a:cs typeface="Aptos"/>
              </a:rPr>
              <a:t>RMSE en puntos. Prueba 2024.</a:t>
            </a:r>
          </a:p>
        </p:txBody>
      </p:sp>
    </p:spTree>
    <p:extLst>
      <p:ext uri="{BB962C8B-B14F-4D97-AF65-F5344CB8AC3E}">
        <p14:creationId xmlns:p14="http://schemas.microsoft.com/office/powerpoint/2010/main" val="13709554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4000"/>
    </mc:Choice>
    <mc:Fallback>
      <p:transition spd="slow" advClick="0" advTm="14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691F23E-3186-4587-A839-D7F685C928E4}"/>
              </a:ext>
            </a:extLst>
          </p:cNvPr>
          <p:cNvSpPr>
            <a:spLocks noGrp="1"/>
          </p:cNvSpPr>
          <p:nvPr/>
        </p:nvSpPr>
        <p:spPr>
          <a:xfrm>
            <a:off x="762000" y="971550"/>
            <a:ext cx="10668000" cy="2495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7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Alerta</a:t>
            </a:r>
          </a:p>
          <a:p>
            <a:pPr>
              <a:defRPr sz="7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temprana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127CC37-8EC4-462D-AA4A-9918B17B7611}"/>
              </a:ext>
            </a:extLst>
          </p:cNvPr>
          <p:cNvSpPr>
            <a:spLocks noGrp="1"/>
          </p:cNvSpPr>
          <p:nvPr/>
        </p:nvSpPr>
        <p:spPr>
          <a:xfrm>
            <a:off x="800100" y="4219575"/>
            <a:ext cx="103822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525" b="0">
                <a:solidFill>
                  <a:srgbClr val="8EDDD0"/>
                </a:solidFill>
                <a:latin typeface="Aptos"/>
                <a:ea typeface="Aptos"/>
                <a:cs typeface="Aptos"/>
              </a:defRPr>
            </a:pPr>
            <a:r>
              <a:rPr sz="3525" b="0">
                <a:solidFill>
                  <a:srgbClr val="8EDDD0"/>
                </a:solidFill>
                <a:latin typeface="Aptos"/>
                <a:ea typeface="Aptos"/>
                <a:cs typeface="Aptos"/>
              </a:rPr>
              <a:t>Intervención proactiva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3389838-B946-41B1-B7E8-F449D6E86F85}"/>
              </a:ext>
            </a:extLst>
          </p:cNvPr>
          <p:cNvSpPr>
            <a:spLocks noGrp="1"/>
          </p:cNvSpPr>
          <p:nvPr/>
        </p:nvSpPr>
        <p:spPr>
          <a:xfrm>
            <a:off x="800100" y="5953125"/>
            <a:ext cx="105727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D2DDE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D2DDE0"/>
                </a:solidFill>
                <a:latin typeface="Aptos"/>
                <a:ea typeface="Aptos"/>
                <a:cs typeface="Aptos"/>
              </a:rPr>
              <a:t>Una oportunidad para orientar el acompañamiento</a:t>
            </a:r>
          </a:p>
        </p:txBody>
      </p:sp>
    </p:spTree>
    <p:extLst>
      <p:ext uri="{BB962C8B-B14F-4D97-AF65-F5344CB8AC3E}">
        <p14:creationId xmlns:p14="http://schemas.microsoft.com/office/powerpoint/2010/main" val="14939684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9300"/>
    </mc:Choice>
    <mc:Fallback>
      <p:transition spd="slow" advClick="0" advTm="93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4FA049D-15A2-4F4E-9C42-935980D3AE8F}"/>
              </a:ext>
            </a:extLst>
          </p:cNvPr>
          <p:cNvSpPr>
            <a:spLocks noGrp="1"/>
          </p:cNvSpPr>
          <p:nvPr/>
        </p:nvSpPr>
        <p:spPr>
          <a:xfrm>
            <a:off x="762000" y="923925"/>
            <a:ext cx="10763250" cy="2590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7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Equidad</a:t>
            </a:r>
          </a:p>
          <a:p>
            <a:pPr>
              <a:defRPr sz="7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educativa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B8CA24E-0D3E-4545-9069-4AA8DDF9BDE3}"/>
              </a:ext>
            </a:extLst>
          </p:cNvPr>
          <p:cNvSpPr>
            <a:spLocks noGrp="1"/>
          </p:cNvSpPr>
          <p:nvPr/>
        </p:nvSpPr>
        <p:spPr>
          <a:xfrm>
            <a:off x="800100" y="4210050"/>
            <a:ext cx="10287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E5C07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E5C07B"/>
                </a:solidFill>
                <a:latin typeface="Aptos"/>
                <a:ea typeface="Aptos"/>
                <a:cs typeface="Aptos"/>
              </a:rPr>
              <a:t>Misión 4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E31EE95-9D0B-420E-99E6-367CE186EF8A}"/>
              </a:ext>
            </a:extLst>
          </p:cNvPr>
          <p:cNvSpPr>
            <a:spLocks noGrp="1"/>
          </p:cNvSpPr>
          <p:nvPr/>
        </p:nvSpPr>
        <p:spPr>
          <a:xfrm>
            <a:off x="800100" y="5210175"/>
            <a:ext cx="10572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75" b="0">
                <a:solidFill>
                  <a:srgbClr val="8EDDD0"/>
                </a:solidFill>
                <a:latin typeface="Aptos"/>
                <a:ea typeface="Aptos"/>
                <a:cs typeface="Aptos"/>
              </a:defRPr>
            </a:pPr>
            <a:r>
              <a:rPr sz="2775" b="0">
                <a:solidFill>
                  <a:srgbClr val="8EDDD0"/>
                </a:solidFill>
                <a:latin typeface="Aptos"/>
                <a:ea typeface="Aptos"/>
                <a:cs typeface="Aptos"/>
              </a:rPr>
              <a:t>Inteligencia Artificial para la equidad</a:t>
            </a:r>
          </a:p>
        </p:txBody>
      </p:sp>
    </p:spTree>
    <p:extLst>
      <p:ext uri="{BB962C8B-B14F-4D97-AF65-F5344CB8AC3E}">
        <p14:creationId xmlns:p14="http://schemas.microsoft.com/office/powerpoint/2010/main" val="15216792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900"/>
    </mc:Choice>
    <mc:Fallback>
      <p:transition spd="slow" advClick="0" advTm="39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C70142CC-1778-4412-B99B-DC22B44F7C1C}"/>
              </a:ext>
            </a:extLst>
          </p:cNvPr>
          <p:cNvSpPr>
            <a:spLocks noGrp="1"/>
          </p:cNvSpPr>
          <p:nvPr/>
        </p:nvSpPr>
        <p:spPr>
          <a:xfrm>
            <a:off x="752475" y="971550"/>
            <a:ext cx="10572750" cy="1152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ENSIU 2026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AB67809-01DA-4605-8E02-55FC54E1525A}"/>
              </a:ext>
            </a:extLst>
          </p:cNvPr>
          <p:cNvSpPr>
            <a:spLocks noGrp="1"/>
          </p:cNvSpPr>
          <p:nvPr/>
        </p:nvSpPr>
        <p:spPr>
          <a:xfrm>
            <a:off x="800100" y="2647950"/>
            <a:ext cx="10572750" cy="752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200" b="1">
                <a:solidFill>
                  <a:srgbClr val="8EDDD0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8EDDD0"/>
                </a:solidFill>
                <a:latin typeface="Aptos"/>
                <a:ea typeface="Aptos"/>
                <a:cs typeface="Aptos"/>
              </a:rPr>
              <a:t>UNIMINUTO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BC44936-5AEA-43A4-A38C-5DA7BF31FF47}"/>
              </a:ext>
            </a:extLst>
          </p:cNvPr>
          <p:cNvSpPr>
            <a:spLocks noGrp="1"/>
          </p:cNvSpPr>
          <p:nvPr/>
        </p:nvSpPr>
        <p:spPr>
          <a:xfrm>
            <a:off x="800100" y="3771900"/>
            <a:ext cx="10572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Anticipar para Incluir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DACD52E-C0F8-4A24-B839-F84C6D5C24F0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1057275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D2DDE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2DDE0"/>
                </a:solidFill>
                <a:latin typeface="Aptos"/>
                <a:ea typeface="Aptos"/>
                <a:cs typeface="Aptos"/>
              </a:rPr>
              <a:t>Edwin Santiago Paz Bedoya</a:t>
            </a:r>
          </a:p>
          <a:p>
            <a:pPr>
              <a:defRPr sz="2175" b="0">
                <a:solidFill>
                  <a:srgbClr val="D2DDE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2DDE0"/>
                </a:solidFill>
                <a:latin typeface="Aptos"/>
                <a:ea typeface="Aptos"/>
                <a:cs typeface="Aptos"/>
              </a:rPr>
              <a:t>Nathalia Orozco Morales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193C481-3250-4C53-BE91-9FA6C8F3165C}"/>
              </a:ext>
            </a:extLst>
          </p:cNvPr>
          <p:cNvSpPr>
            <a:spLocks noGrp="1"/>
          </p:cNvSpPr>
          <p:nvPr/>
        </p:nvSpPr>
        <p:spPr>
          <a:xfrm>
            <a:off x="800100" y="6115050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E5C07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5C07B"/>
                </a:solidFill>
                <a:latin typeface="Aptos"/>
                <a:ea typeface="Aptos"/>
                <a:cs typeface="Aptos"/>
              </a:rPr>
              <a:t>Misión 4: Inteligencia Artificial para la equidad</a:t>
            </a:r>
          </a:p>
        </p:txBody>
      </p:sp>
    </p:spTree>
    <p:extLst>
      <p:ext uri="{BB962C8B-B14F-4D97-AF65-F5344CB8AC3E}">
        <p14:creationId xmlns:p14="http://schemas.microsoft.com/office/powerpoint/2010/main" val="1701217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800"/>
    </mc:Choice>
    <mc:Fallback>
      <p:transition spd="slow" advClick="0" advTm="6800"/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1179</Words>
  <Application>Microsoft Office PowerPoint</Application>
  <DocSecurity>0</DocSecurity>
  <PresentationFormat>Panorámica</PresentationFormat>
  <Paragraphs>89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Aptos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Edwin Santiago Paz Bedoya</cp:lastModifiedBy>
  <cp:revision>1</cp:revision>
  <dcterms:created xsi:type="dcterms:W3CDTF">2026-09-08T00:03:48Z</dcterms:created>
  <dcterms:modified xsi:type="dcterms:W3CDTF">2026-09-08T00:04:57Z</dcterms:modified>
</cp:coreProperties>
</file>