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Filas del panel</c:v>
          </c:tx>
          <c:spPr>
            <a:solidFill>
              <a:srgbClr val="24719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Gill Sans MT"/>
                    <a:ea typeface="Gill Sans MT"/>
                    <a:cs typeface="Gill Sans MT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19135</c:v>
                </c:pt>
                <c:pt idx="1">
                  <c:v>24233</c:v>
                </c:pt>
                <c:pt idx="2">
                  <c:v>27722</c:v>
                </c:pt>
                <c:pt idx="3">
                  <c:v>27864</c:v>
                </c:pt>
                <c:pt idx="4">
                  <c:v>28762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3B0-4A60-92B3-6493E1724D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Gill Sans MT"/>
                <a:ea typeface="Gill Sans MT"/>
                <a:cs typeface="Gill Sans MT"/>
              </a:defRPr>
            </a:pPr>
            <a:endParaRPr lang="es-CO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538ED-42D1-45A2-92B6-6E46B2FF4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1106" y="2660770"/>
            <a:ext cx="7132635" cy="1536460"/>
          </a:xfrm>
        </p:spPr>
        <p:txBody>
          <a:bodyPr anchor="b">
            <a:normAutofit/>
          </a:bodyPr>
          <a:lstStyle>
            <a:lvl1pPr algn="ctr">
              <a:buNone/>
              <a:defRPr sz="32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610A8-CEB1-4CED-BFB3-4695B63C4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1110" y="4135784"/>
            <a:ext cx="6693634" cy="1654967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Haga clic para modificar el estilo de subtítulo del patrón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2EDD1-960D-468B-946B-A7F00AEA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283" y="1774533"/>
            <a:ext cx="9426806" cy="462924"/>
          </a:xfrm>
        </p:spPr>
        <p:txBody>
          <a:bodyPr/>
          <a:lstStyle>
            <a:lvl1pPr algn="ctr">
              <a:buNone/>
              <a:defRPr>
                <a:solidFill>
                  <a:srgbClr val="FFFF00"/>
                </a:solidFill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B194-C4CF-4E66-B054-855CA1968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5247" y="2523736"/>
            <a:ext cx="9063417" cy="3678303"/>
          </a:xfrm>
        </p:spPr>
        <p:txBody>
          <a:bodyPr/>
          <a:lstStyle>
            <a:lvl1pPr marL="306000" indent="-306000">
              <a:buClr>
                <a:srgbClr val="FF6600"/>
              </a:buClr>
              <a:buFont typeface="Wingdings"/>
              <a:buChar char="§"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 marL="630000" indent="-306000">
              <a:buClr>
                <a:srgbClr val="FF6600"/>
              </a:buClr>
              <a:buFont typeface="Wingdings"/>
              <a:buChar char="§"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 marL="900000" indent="-270000">
              <a:buClr>
                <a:srgbClr val="FF6600"/>
              </a:buClr>
              <a:buFont typeface="Wingdings"/>
              <a:buChar char="§"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 marL="1242000" indent="-234000">
              <a:buClr>
                <a:srgbClr val="FF6600"/>
              </a:buClr>
              <a:buFont typeface="Wingdings"/>
              <a:buChar char="§"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 marL="1602000" indent="-234000">
              <a:buClr>
                <a:srgbClr val="FF6600"/>
              </a:buClr>
              <a:buFont typeface="Wingdings"/>
              <a:buChar char="§"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6C9F-434A-4428-B6AA-9FEDB5F84BD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413338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2B728-F376-4574-801A-38DDEF31116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409012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370A6-8090-498C-95E6-A8AFDBF16D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413338"/>
            <a:ext cx="1052508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9AE8-3C8E-4EBC-B75D-B78E3581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671" y="2095500"/>
            <a:ext cx="8917453" cy="136525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buNone/>
              <a:defRPr sz="3600" b="0" cap="all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55D34-2534-4B39-8F41-CEEB4C3EC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1213" y="3557167"/>
            <a:ext cx="8949786" cy="600556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0" indent="0" algn="ctr">
              <a:buNone/>
              <a:defRPr sz="1800" cap="all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4B2B6-B81E-4DC5-92BA-E8BCF00B30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802C4-7D9E-4CCD-BB03-0E8ECACF64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B36B-BDFE-4431-BAF4-FC98468F1C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978B-BD32-4D5F-9EB8-78993DD4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393" y="1397000"/>
            <a:ext cx="8569481" cy="698499"/>
          </a:xfrm>
        </p:spPr>
        <p:txBody>
          <a:bodyPr>
            <a:normAutofit/>
          </a:bodyPr>
          <a:lstStyle>
            <a:lvl1pPr algn="ctr">
              <a:buNone/>
              <a:defRPr sz="28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C4501-224C-4B77-936C-DB32B0378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2175" y="2589760"/>
            <a:ext cx="3631325" cy="3633047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1BEBC-1962-4161-AE8D-DA55AC57B3D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106483" y="2589760"/>
            <a:ext cx="3631325" cy="3633047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9FD7C-4093-4638-BBB2-B88BECB62B8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476644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D7FE-73DB-47FF-93A4-BE2A826907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472318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3EBD8-9B31-4A39-B734-53D1E70B58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476644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37E7827-33D2-4446-A7DE-5A89EB91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047" y="1508124"/>
            <a:ext cx="9607078" cy="629683"/>
          </a:xfrm>
        </p:spPr>
        <p:txBody>
          <a:bodyPr/>
          <a:lstStyle>
            <a:lvl1pPr algn="ctr"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D0299-E59B-4795-A042-BAB542FC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5803" y="2618310"/>
            <a:ext cx="3838015" cy="564202"/>
          </a:xfrm>
        </p:spPr>
        <p:txBody>
          <a:bodyPr anchor="b">
            <a:noAutofit/>
          </a:bodyPr>
          <a:lstStyle>
            <a:lvl1pPr marL="0" indent="0">
              <a:buClr>
                <a:srgbClr val="FF6600"/>
              </a:buClr>
              <a:buNone/>
              <a:defRPr sz="1800" b="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56815-A6C2-4A90-A1F5-59F5C4CF67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353234" y="3158865"/>
            <a:ext cx="3838015" cy="2934999"/>
          </a:xfrm>
        </p:spPr>
        <p:txBody>
          <a:bodyPr anchor="t">
            <a:normAutofit/>
          </a:bodyPr>
          <a:lstStyle>
            <a:lvl1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6A8C6-89D2-479B-8654-044417FBA5E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741849" y="2597666"/>
            <a:ext cx="4060913" cy="553373"/>
          </a:xfrm>
          <a:prstGeom prst="rect">
            <a:avLst/>
          </a:prstGeom>
          <a:noFill/>
        </p:spPr>
        <p:txBody>
          <a:bodyPr vert="horz" lIns="91440" tIns="45720" rIns="91440" bIns="45720" anchor="b">
            <a:noAutofit/>
          </a:bodyPr>
          <a:lstStyle>
            <a:lvl1pPr>
              <a:buClr>
                <a:srgbClr val="FF6600"/>
              </a:buClr>
              <a:buNone/>
              <a:defRPr b="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lvl="0" indent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7ABE2-BB7A-4B0C-8B69-FF127177C0B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7758132" y="3191425"/>
            <a:ext cx="4060913" cy="2934999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>
            <a:lvl1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Clr>
                <a:srgbClr val="FF6600"/>
              </a:buClr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Clr>
                <a:srgbClr val="FF6600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A2283-49C1-4287-8DF4-B00F640A3F8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434443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60DCC-F856-4FFD-988F-55CA6DA429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99776" y="7211563"/>
            <a:ext cx="6917210" cy="365125"/>
          </a:xfrm>
        </p:spPr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AF0F2-1B30-4643-88F1-63C15F271D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434443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40D37-6DEC-4D6E-9C2A-FFCAFFF19B5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350034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D620A-4A8C-4EAD-A6E9-019AD4D7091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345708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F6872-AA03-42B5-9A98-028E3EFC9D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350034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3EAFD8-6181-4ADF-A56E-2886E9C3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2095500"/>
            <a:ext cx="10464425" cy="136525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buNone/>
              <a:defRPr sz="3600" b="0" cap="all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C3BB-F020-458E-B0B8-D856E4D513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9C546-A8A4-466C-A612-9D21DA7E27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ECBBC-8887-453F-8812-5075F75EA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D0-4547-4C24-8427-98249F136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5066" y="5628051"/>
            <a:ext cx="6832434" cy="689514"/>
          </a:xfrm>
        </p:spPr>
        <p:txBody>
          <a:bodyPr anchor="ctr"/>
          <a:lstStyle>
            <a:lvl1pPr algn="l">
              <a:buNone/>
              <a:defRPr sz="2000" b="1" cap="none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8DA3-829A-4A59-A563-2BBDD4B7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9140" y="1952625"/>
            <a:ext cx="9656109" cy="3359808"/>
          </a:xfrm>
        </p:spPr>
        <p:txBody>
          <a:bodyPr anchor="ctr">
            <a:normAutofit/>
          </a:bodyPr>
          <a:lstStyle>
            <a:lvl1pPr>
              <a:buClr>
                <a:schemeClr val="bg1"/>
              </a:buClr>
              <a:buNone/>
              <a:defRPr sz="20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Clr>
                <a:schemeClr val="bg1"/>
              </a:buClr>
              <a:buNone/>
              <a:defRPr sz="18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00">
                <a:solidFill>
                  <a:schemeClr val="tx2"/>
                </a:solidFill>
              </a:defRPr>
            </a:lvl6pPr>
            <a:lvl7pPr>
              <a:buNone/>
              <a:defRPr sz="1400">
                <a:solidFill>
                  <a:schemeClr val="tx2"/>
                </a:solidFill>
              </a:defRPr>
            </a:lvl7pPr>
            <a:lvl8pPr>
              <a:buNone/>
              <a:defRPr sz="1400">
                <a:solidFill>
                  <a:schemeClr val="tx2"/>
                </a:solidFill>
              </a:defRPr>
            </a:lvl8pPr>
            <a:lvl9pPr>
              <a:buNone/>
              <a:defRPr sz="1400">
                <a:solidFill>
                  <a:schemeClr val="tx2"/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33849-E246-476F-856E-15C8EE68E77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588250" y="5628051"/>
            <a:ext cx="4022560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3E36-BC41-4B61-A55F-D902724B60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321892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97FF8-7DA8-43EA-AD40-3DD3C4B80C1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317566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CE7-2234-4BAE-8089-4AF1D4A48B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321892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8851-9DD7-41D2-A639-93680173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5199829"/>
            <a:ext cx="11029616" cy="566738"/>
          </a:xfrm>
        </p:spPr>
        <p:txBody>
          <a:bodyPr anchor="b">
            <a:normAutofit/>
          </a:bodyPr>
          <a:lstStyle>
            <a:lvl1pPr algn="l">
              <a:buNone/>
              <a:defRPr sz="2400" b="1">
                <a:solidFill>
                  <a:srgbClr val="FFFF00"/>
                </a:solidFill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1F07D-E6B6-43C1-BBFB-7322BC682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269999"/>
            <a:ext cx="12192000" cy="382577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Haga clic en el icono para agregar una imagen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12834-A2E2-43E1-9D22-2D98C0D2AD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2" y="576656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01E03-7244-4B92-A47C-3119B5ADFB5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462577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A012C-CF11-4FC6-8916-013B466B267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458251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CAF1D-E240-421A-AC9F-EE0D187F4B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462577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98DA78-E06D-42D7-B2C0-0D5E9207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17" y="1660180"/>
            <a:ext cx="11029616" cy="1013800"/>
          </a:xfrm>
          <a:prstGeom prst="rect">
            <a:avLst/>
          </a:prstGeom>
          <a:noFill/>
        </p:spPr>
        <p:txBody>
          <a:bodyPr/>
          <a:lstStyle>
            <a:lvl1pPr algn="ctr">
              <a:buNone/>
              <a:defRPr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FDF49-4E01-4995-87D0-C061C94D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471" y="2877412"/>
            <a:ext cx="10411279" cy="3522794"/>
          </a:xfrm>
        </p:spPr>
        <p:txBody>
          <a:bodyPr vert="eaVert" anchor="t"/>
          <a:lstStyle>
            <a:lvl1pPr algn="l"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 algn="l"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 algn="l"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 algn="l"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 algn="l"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2FC7B-BABF-4084-9E9B-F35BE25926E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6561046"/>
            <a:ext cx="284479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72B5D-5764-4F1F-A98A-8D41E570789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6556720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8AD2C-C949-4AC0-8392-4C26083A12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6561046"/>
            <a:ext cx="105251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2F9A95-E275-4315-8FD6-9EAB3E5773AB}"/>
              </a:ext>
            </a:extLst>
          </p:cNvPr>
          <p:cNvSpPr>
            <a:spLocks noGrp="1"/>
          </p:cNvSpPr>
          <p:nvPr/>
        </p:nvSpPr>
        <p:spPr>
          <a:xfrm>
            <a:off x="9236076" y="2016125"/>
            <a:ext cx="2906817" cy="440055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F572A-5BA8-45A7-B184-E501B5E1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875" y="2159000"/>
            <a:ext cx="2317749" cy="3699799"/>
          </a:xfrm>
        </p:spPr>
        <p:txBody>
          <a:bodyPr vert="eaVert"/>
          <a:lstStyle>
            <a:lvl1pPr algn="ctr"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DBD8A-D436-4B34-8613-32CC16904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1798" y="2063750"/>
            <a:ext cx="7896279" cy="3795049"/>
          </a:xfrm>
        </p:spPr>
        <p:txBody>
          <a:bodyPr vert="eaVert" anchor="t"/>
          <a:lstStyle>
            <a:lvl1pPr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buClrTx/>
              <a:buNone/>
              <a:defRPr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3D9CF-C3D7-47E0-B884-ADD14B99603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E7705-37C8-4505-9712-84DFD548CD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C9564-1C59-4801-A4F5-666A92A009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6600">
                <a:alpha val="91000"/>
              </a:srgbClr>
            </a:gs>
            <a:gs pos="100000">
              <a:schemeClr val="accent1">
                <a:lumMod val="75000"/>
                <a:alpha val="13000"/>
              </a:schemeClr>
            </a:gs>
            <a:gs pos="61000">
              <a:srgbClr val="FF6600">
                <a:alpha val="37000"/>
              </a:srgbClr>
            </a:gs>
            <a:gs pos="84000">
              <a:schemeClr val="accent1">
                <a:lumMod val="60000"/>
                <a:lumOff val="40000"/>
                <a:alpha val="83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259" y="0"/>
            <a:ext cx="11994367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D751E-445C-4ED9-B982-4AF64D64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346" y="1936749"/>
            <a:ext cx="9387904" cy="611603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1FAF7-695D-4F81-9A5C-CBC29F503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6451" y="2702748"/>
            <a:ext cx="9050423" cy="312337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66CD1-FB73-4D2B-B26E-BCADBDED43C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bg1"/>
                </a:solidFill>
              </a:defRPr>
            </a:lvl1pPr>
          </a:lstStyle>
          <a:p>
            <a:fld id="{59A96ECF-3AFB-4639-9295-D19CB2B28DE5}" type="datetimeFigureOut">
              <a:t>15/09/2026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898A3-6D04-4731-9CCB-5E88C7535DE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cap="all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E5B7B-5D1E-4B47-8090-D6D71F1FC75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bg1"/>
                </a:solidFill>
              </a:defRPr>
            </a:lvl1pPr>
          </a:lstStyle>
          <a:p>
            <a:fld id="{884CB002-4CB8-4C9B-A42A-1F99E8D1B09A}" type="slidenum">
              <a:t>‹Nº›</a:t>
            </a:fld>
            <a:endParaRPr/>
          </a:p>
        </p:txBody>
      </p:sp>
      <p:pic>
        <p:nvPicPr>
          <p:cNvPr id="22" name="Imagen 28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779000" y="116211"/>
            <a:ext cx="1058538" cy="105853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3" name="Imagen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7086" y="182130"/>
            <a:ext cx="2432845" cy="9470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09C16F7-DA7C-41EA-BA59-46D7441DA6DF}"/>
              </a:ext>
            </a:extLst>
          </p:cNvPr>
          <p:cNvSpPr>
            <a:spLocks noGrp="1"/>
          </p:cNvSpPr>
          <p:nvPr/>
        </p:nvSpPr>
        <p:spPr>
          <a:xfrm>
            <a:off x="-2789" y="-16626"/>
            <a:ext cx="432605" cy="6894195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endParaRPr sz="3200" b="0">
              <a:solidFill>
                <a:schemeClr val="bg1"/>
              </a:solidFill>
            </a:endParaRPr>
          </a:p>
          <a:p>
            <a:endParaRPr sz="1200" b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S</a:t>
            </a:r>
          </a:p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0">
                <a:solidFill>
                  <a:schemeClr val="bg1"/>
                </a:solidFill>
              </a:rPr>
              <a:t>I</a:t>
            </a:r>
          </a:p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0">
                <a:solidFill>
                  <a:schemeClr val="bg1"/>
                </a:solidFill>
              </a:rPr>
              <a:t>M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U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L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T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Á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N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E</a:t>
            </a:r>
          </a:p>
          <a:p>
            <a:pPr algn="ctr">
              <a:buNone/>
            </a:pPr>
            <a:r>
              <a:rPr sz="3200" b="0">
                <a:solidFill>
                  <a:schemeClr val="bg1"/>
                </a:solidFill>
              </a:rPr>
              <a:t>A</a:t>
            </a:r>
          </a:p>
          <a:p>
            <a:endParaRPr sz="4600" b="0">
              <a:solidFill>
                <a:schemeClr val="bg1"/>
              </a:solidFill>
            </a:endParaRPr>
          </a:p>
          <a:p>
            <a:endParaRPr sz="3200" b="0">
              <a:solidFill>
                <a:schemeClr val="bg1"/>
              </a:solidFill>
            </a:endParaRPr>
          </a:p>
        </p:txBody>
      </p:sp>
      <p:pic>
        <p:nvPicPr>
          <p:cNvPr id="25" name="Imagen 9"/>
          <p:cNvPicPr>
            <a:picLocks noChangeAspect="1"/>
          </p:cNvPicPr>
          <p:nvPr/>
        </p:nvPicPr>
        <p:blipFill>
          <a:blip r:embed="rId16">
            <a:biLevel thresh="25000"/>
          </a:blip>
          <a:stretch>
            <a:fillRect/>
          </a:stretch>
        </p:blipFill>
        <p:spPr>
          <a:xfrm>
            <a:off x="157007" y="6316936"/>
            <a:ext cx="1197416" cy="3794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>
        <a:spcBef>
          <a:spcPct val="0"/>
        </a:spcBef>
        <a:buNone/>
        <a:defRPr sz="2800" b="0" kern="1200" cap="all">
          <a:solidFill>
            <a:srgbClr val="FFFF00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06000" indent="-306000" algn="l" defTabSz="457200">
        <a:spcBef>
          <a:spcPct val="20000"/>
        </a:spcBef>
        <a:spcAft>
          <a:spcPts val="600"/>
        </a:spcAft>
        <a:buClr>
          <a:srgbClr val="FF6600"/>
        </a:buClr>
        <a:buSzPct val="92000"/>
        <a:buFont typeface="Wingdings 2"/>
        <a:buChar char=""/>
        <a:defRPr sz="1800" kern="1200">
          <a:solidFill>
            <a:srgbClr val="FFFF00"/>
          </a:solidFill>
          <a:latin typeface="+mn-lt"/>
          <a:ea typeface="+mn-lt"/>
          <a:cs typeface="+mn-lt"/>
        </a:defRPr>
      </a:lvl1pPr>
      <a:lvl2pPr marL="630000" indent="-306000" algn="l" defTabSz="457200">
        <a:spcBef>
          <a:spcPct val="20000"/>
        </a:spcBef>
        <a:spcAft>
          <a:spcPts val="600"/>
        </a:spcAft>
        <a:buClr>
          <a:srgbClr val="FF6600"/>
        </a:buClr>
        <a:buSzPct val="92000"/>
        <a:buFont typeface="Wingdings 2"/>
        <a:buChar char=""/>
        <a:defRPr sz="1600" kern="1200">
          <a:solidFill>
            <a:srgbClr val="FFFF00"/>
          </a:solidFill>
          <a:latin typeface="+mn-lt"/>
          <a:ea typeface="+mn-lt"/>
          <a:cs typeface="+mn-lt"/>
        </a:defRPr>
      </a:lvl2pPr>
      <a:lvl3pPr marL="900000" indent="-270000" algn="l" defTabSz="457200">
        <a:spcBef>
          <a:spcPct val="20000"/>
        </a:spcBef>
        <a:spcAft>
          <a:spcPts val="600"/>
        </a:spcAft>
        <a:buClr>
          <a:srgbClr val="FF6600"/>
        </a:buClr>
        <a:buSzPct val="92000"/>
        <a:buFont typeface="Wingdings 2"/>
        <a:buChar char=""/>
        <a:defRPr sz="1400" kern="1200">
          <a:solidFill>
            <a:srgbClr val="FFFF00"/>
          </a:solidFill>
          <a:latin typeface="+mn-lt"/>
          <a:ea typeface="+mn-lt"/>
          <a:cs typeface="+mn-lt"/>
        </a:defRPr>
      </a:lvl3pPr>
      <a:lvl4pPr marL="1242000" indent="-234000" algn="l" defTabSz="457200">
        <a:spcBef>
          <a:spcPct val="20000"/>
        </a:spcBef>
        <a:spcAft>
          <a:spcPts val="600"/>
        </a:spcAft>
        <a:buClr>
          <a:srgbClr val="FF6600"/>
        </a:buClr>
        <a:buSzPct val="92000"/>
        <a:buFont typeface="Wingdings 2"/>
        <a:buChar char=""/>
        <a:defRPr sz="1200" kern="1200">
          <a:solidFill>
            <a:srgbClr val="FFFF00"/>
          </a:solidFill>
          <a:latin typeface="+mn-lt"/>
          <a:ea typeface="+mn-lt"/>
          <a:cs typeface="+mn-lt"/>
        </a:defRPr>
      </a:lvl4pPr>
      <a:lvl5pPr marL="1602000" indent="-234000" algn="l" defTabSz="457200">
        <a:spcBef>
          <a:spcPct val="20000"/>
        </a:spcBef>
        <a:spcAft>
          <a:spcPts val="600"/>
        </a:spcAft>
        <a:buClr>
          <a:srgbClr val="FF6600"/>
        </a:buClr>
        <a:buSzPct val="92000"/>
        <a:buFont typeface="Wingdings 2"/>
        <a:buChar char=""/>
        <a:defRPr sz="1200" kern="1200">
          <a:solidFill>
            <a:srgbClr val="FFFF00"/>
          </a:solidFill>
          <a:latin typeface="+mn-lt"/>
          <a:ea typeface="+mn-lt"/>
          <a:cs typeface="+mn-lt"/>
        </a:defRPr>
      </a:lvl5pPr>
      <a:lvl6pPr marL="19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6pPr>
      <a:lvl7pPr marL="22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7pPr>
      <a:lvl8pPr marL="25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8pPr>
      <a:lvl9pPr marL="28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3C3117-9F85-49CF-B38A-DAC785C3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543" y="2122069"/>
            <a:ext cx="10026832" cy="1257631"/>
          </a:xfrm>
          <a:prstGeom prst="rect">
            <a:avLst/>
          </a:prstGeom>
          <a:noFill/>
        </p:spPr>
        <p:txBody>
          <a:bodyPr/>
          <a:lstStyle/>
          <a:p>
            <a:endParaRPr lang="es-CO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3C103C-94CF-402E-AF71-9430D6A5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0818" y="3704982"/>
            <a:ext cx="8564213" cy="337792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endParaRPr lang="es-CO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ADFF96-3646-4EC7-9184-01C7D9E840DC}"/>
              </a:ext>
            </a:extLst>
          </p:cNvPr>
          <p:cNvSpPr>
            <a:spLocks noGrp="1"/>
          </p:cNvSpPr>
          <p:nvPr/>
        </p:nvSpPr>
        <p:spPr>
          <a:xfrm>
            <a:off x="1333500" y="1562100"/>
            <a:ext cx="10096500" cy="4381500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87A65A-B3A4-4358-A12E-4E685ED45FDB}"/>
              </a:ext>
            </a:extLst>
          </p:cNvPr>
          <p:cNvSpPr>
            <a:spLocks noGrp="1"/>
          </p:cNvSpPr>
          <p:nvPr/>
        </p:nvSpPr>
        <p:spPr>
          <a:xfrm>
            <a:off x="1619250" y="1771650"/>
            <a:ext cx="95250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Predicción del PROMEDIO_GLOBAL de Saber Pro mediante </a:t>
            </a:r>
            <a:r>
              <a:rPr lang="es-CO" sz="2550" b="1" noProof="0" dirty="0" err="1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LightGBM</a:t>
            </a: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 y auditoría de fuga temporal: un estudio a nivel de programa académico en Colombia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02801A-2F9B-441F-B18F-9EEA3829CF69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93345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sz="2100" b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Edwin Santiago Paz Bedoya</a:t>
            </a:r>
          </a:p>
          <a:p>
            <a:pPr>
              <a:buNone/>
              <a:defRPr sz="2100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sz="2100" b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Nathalia Orozco Morales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573B9C-34BE-46F3-9747-4CD340E14222}"/>
              </a:ext>
            </a:extLst>
          </p:cNvPr>
          <p:cNvSpPr>
            <a:spLocks noGrp="1"/>
          </p:cNvSpPr>
          <p:nvPr/>
        </p:nvSpPr>
        <p:spPr>
          <a:xfrm>
            <a:off x="1619250" y="4714875"/>
            <a:ext cx="923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UNIMINUTO Virtual – Bogotá, Colombia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975BE5-92F8-432D-A5A1-C44F3949184D}"/>
              </a:ext>
            </a:extLst>
          </p:cNvPr>
          <p:cNvSpPr>
            <a:spLocks noGrp="1"/>
          </p:cNvSpPr>
          <p:nvPr/>
        </p:nvSpPr>
        <p:spPr>
          <a:xfrm>
            <a:off x="1619250" y="514350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42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211CF6-8194-4703-A861-FDB6632D2741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</a:t>
            </a:r>
          </a:p>
        </p:txBody>
      </p:sp>
    </p:spTree>
    <p:extLst>
      <p:ext uri="{BB962C8B-B14F-4D97-AF65-F5344CB8AC3E}">
        <p14:creationId xmlns:p14="http://schemas.microsoft.com/office/powerpoint/2010/main" val="405897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7084B72-FE22-4D82-8004-98F66E03B5CB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F4DD8B-9D89-4D6D-BA3D-91265DBAE7C0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Problema y objetivo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C19554-E8E9-4AF0-9FAE-460A07C0023C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800AD1-D2CB-40AB-947D-A37E678644F2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2/10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E7AE3C-3BB9-4668-BDF1-2A22655F80E5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Problema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0EE608D-6FDA-41F6-9D68-7A2BF693CBCF}"/>
              </a:ext>
            </a:extLst>
          </p:cNvPr>
          <p:cNvSpPr>
            <a:spLocks noGrp="1"/>
          </p:cNvSpPr>
          <p:nvPr/>
        </p:nvSpPr>
        <p:spPr>
          <a:xfrm>
            <a:off x="1143000" y="2876550"/>
            <a:ext cx="9953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2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2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Los resultados de Saber Pro se publican meses después</a:t>
            </a:r>
          </a:p>
          <a:p>
            <a:pPr>
              <a:buNone/>
              <a:defRPr sz="22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2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de la aplicación del examen.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EAC7074-C391-4B83-AA65-5F719AFF6288}"/>
              </a:ext>
            </a:extLst>
          </p:cNvPr>
          <p:cNvSpPr>
            <a:spLocks noGrp="1"/>
          </p:cNvSpPr>
          <p:nvPr/>
        </p:nvSpPr>
        <p:spPr>
          <a:xfrm>
            <a:off x="1143000" y="4057650"/>
            <a:ext cx="9810750" cy="28575"/>
          </a:xfrm>
          <a:prstGeom prst="rect">
            <a:avLst/>
          </a:prstGeom>
          <a:solidFill>
            <a:srgbClr val="00AD50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A44D06-0B65-4C0D-8A53-A541BA298654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Objetivo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1D2CCA-104E-481D-8718-1D261343727F}"/>
              </a:ext>
            </a:extLst>
          </p:cNvPr>
          <p:cNvSpPr>
            <a:spLocks noGrp="1"/>
          </p:cNvSpPr>
          <p:nvPr/>
        </p:nvSpPr>
        <p:spPr>
          <a:xfrm>
            <a:off x="1143000" y="4676775"/>
            <a:ext cx="9953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2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2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Estimar el PROMEDIO_GLOBAL a nivel de programa</a:t>
            </a:r>
          </a:p>
          <a:p>
            <a:pPr>
              <a:buNone/>
              <a:defRPr sz="22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2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con información histórica pública del ICFES.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0B1912-2F55-4D01-80B7-6E66A292546D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9715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22286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3480C61-B214-4DBE-AD73-6F16F64B1BA5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7AD4CE-E69A-436C-B63A-9AC888D6130B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Datos y construcción del panel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689D5E-2237-4997-8003-85ED6F745392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0DEA1A3-1857-4BAC-9510-CFADAF341BF7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3/10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4AE449-CE5C-4AA1-8A2D-A0537680E699}"/>
              </a:ext>
            </a:extLst>
          </p:cNvPr>
          <p:cNvSpPr>
            <a:spLocks noGrp="1"/>
          </p:cNvSpPr>
          <p:nvPr/>
        </p:nvSpPr>
        <p:spPr>
          <a:xfrm>
            <a:off x="1143000" y="231457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4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40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127.716 observaciones procesadas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1143000" y="2952750"/>
          <a:ext cx="6143625" cy="2714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887D914-E4DE-4053-ADFF-2F1395C7B7B3}"/>
              </a:ext>
            </a:extLst>
          </p:cNvPr>
          <p:cNvSpPr>
            <a:spLocks noGrp="1"/>
          </p:cNvSpPr>
          <p:nvPr/>
        </p:nvSpPr>
        <p:spPr>
          <a:xfrm>
            <a:off x="7620000" y="2971800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Reportes ICFES 2020–2024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4B318B-4473-411A-A165-D21CB5D108CC}"/>
              </a:ext>
            </a:extLst>
          </p:cNvPr>
          <p:cNvSpPr>
            <a:spLocks noGrp="1"/>
          </p:cNvSpPr>
          <p:nvPr/>
        </p:nvSpPr>
        <p:spPr>
          <a:xfrm>
            <a:off x="7620000" y="3686175"/>
            <a:ext cx="3667125" cy="2076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Unidad de análisis</a:t>
            </a:r>
          </a:p>
          <a:p>
            <a:pPr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Institución, programa,</a:t>
            </a:r>
            <a:endParaRPr lang="es-CO" sz="1800" b="0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  <a:p>
            <a:pPr>
              <a:buNone/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prueba y año</a:t>
            </a:r>
          </a:p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sz="1950" b="0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  <a:p>
            <a:pPr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Historial por entidad</a:t>
            </a:r>
            <a:endParaRPr lang="es-CO" sz="1800" b="0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45203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38329F1-F81F-40C3-9FF3-516179B025ED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9CDFB5-29A7-451F-99BF-FD5E4B9B444A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Control de fuga y esquema de evaluación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15A199-D576-4874-BF1A-49796DD36BEC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A41219A-0E4D-4113-9341-AE53D6E4B80F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4/10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739BBA-CD24-4877-A5DD-3028FC620252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6191250" cy="86677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0DC2854-02FC-47CC-9531-7177A23AF852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3467100" cy="866775"/>
          </a:xfrm>
          <a:prstGeom prst="rect">
            <a:avLst/>
          </a:prstGeom>
          <a:solidFill>
            <a:srgbClr val="00AD50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CA0E90-4100-44F0-977F-7F600DAB46A9}"/>
              </a:ext>
            </a:extLst>
          </p:cNvPr>
          <p:cNvSpPr>
            <a:spLocks noGrp="1"/>
          </p:cNvSpPr>
          <p:nvPr/>
        </p:nvSpPr>
        <p:spPr>
          <a:xfrm>
            <a:off x="1362075" y="2514600"/>
            <a:ext cx="57912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Entrenamiento 2020–2023</a:t>
            </a:r>
          </a:p>
          <a:p>
            <a:pPr>
              <a:defRPr sz="2025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98.954 filas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C92D51-7662-4D93-8EA7-A5063BD222BB}"/>
              </a:ext>
            </a:extLst>
          </p:cNvPr>
          <p:cNvSpPr>
            <a:spLocks noGrp="1"/>
          </p:cNvSpPr>
          <p:nvPr/>
        </p:nvSpPr>
        <p:spPr>
          <a:xfrm>
            <a:off x="7715250" y="25146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Test externo 2024</a:t>
            </a:r>
          </a:p>
          <a:p>
            <a:pPr>
              <a:buNone/>
              <a:defRPr sz="210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28.762 filas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A77FC0-FA23-497F-B234-0AC34006F948}"/>
              </a:ext>
            </a:extLst>
          </p:cNvPr>
          <p:cNvSpPr>
            <a:spLocks noGrp="1"/>
          </p:cNvSpPr>
          <p:nvPr/>
        </p:nvSpPr>
        <p:spPr>
          <a:xfrm>
            <a:off x="1190625" y="3743325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Exclusión de puntajes y niveles de desempeño del mismo ciclo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3CE248-3C5F-411E-8172-34203ED0DE3F}"/>
              </a:ext>
            </a:extLst>
          </p:cNvPr>
          <p:cNvSpPr>
            <a:spLocks noGrp="1"/>
          </p:cNvSpPr>
          <p:nvPr/>
        </p:nvSpPr>
        <p:spPr>
          <a:xfrm>
            <a:off x="1190625" y="4714875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Rezagos construidos con las observaciones anteriores disponibles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AEB2D2F-FA47-41FF-B87B-E817789F8669}"/>
              </a:ext>
            </a:extLst>
          </p:cNvPr>
          <p:cNvSpPr>
            <a:spLocks noGrp="1"/>
          </p:cNvSpPr>
          <p:nvPr/>
        </p:nvSpPr>
        <p:spPr>
          <a:xfrm>
            <a:off x="1190625" y="4724400"/>
            <a:ext cx="981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0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37695D-6CBC-47DD-97C3-9FB5EE310B3B}"/>
              </a:ext>
            </a:extLst>
          </p:cNvPr>
          <p:cNvSpPr>
            <a:spLocks noGrp="1"/>
          </p:cNvSpPr>
          <p:nvPr/>
        </p:nvSpPr>
        <p:spPr>
          <a:xfrm>
            <a:off x="1190625" y="5534025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1">
                <a:solidFill>
                  <a:srgbClr val="95401C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50420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C279ED32-5635-4F22-B765-2E25E3DBE168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4DECF7F-F9D0-4B07-B4DA-8BA27C150CE7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Modelos evaluados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2D25F8-0B08-4A66-9FE5-4B255CDCAFA6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996E57-C9B2-4B37-8033-08A18106770E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5/10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CE7CC7-5C2E-4F95-B6FD-5CF65FFA4A40}"/>
              </a:ext>
            </a:extLst>
          </p:cNvPr>
          <p:cNvSpPr>
            <a:spLocks noGrp="1"/>
          </p:cNvSpPr>
          <p:nvPr/>
        </p:nvSpPr>
        <p:spPr>
          <a:xfrm>
            <a:off x="1171575" y="23812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Ridge y Lasso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B4D759-4007-47C6-8AA3-EDD60B5B11DA}"/>
              </a:ext>
            </a:extLst>
          </p:cNvPr>
          <p:cNvSpPr>
            <a:spLocks noGrp="1"/>
          </p:cNvSpPr>
          <p:nvPr/>
        </p:nvSpPr>
        <p:spPr>
          <a:xfrm>
            <a:off x="1171575" y="28003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8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Regresión lineal con penalización L2 (Ridge) y L1 (Lasso)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A9DF6A-5867-4EC6-BFEB-69D7E292ECC5}"/>
              </a:ext>
            </a:extLst>
          </p:cNvPr>
          <p:cNvSpPr>
            <a:spLocks noGrp="1"/>
          </p:cNvSpPr>
          <p:nvPr/>
        </p:nvSpPr>
        <p:spPr>
          <a:xfrm>
            <a:off x="1171575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1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LightGBM</a:t>
            </a:r>
            <a:endParaRPr lang="es-CO" sz="2175" b="1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EEA5DE-2327-4D6A-97B0-8EC7C6AADB58}"/>
              </a:ext>
            </a:extLst>
          </p:cNvPr>
          <p:cNvSpPr>
            <a:spLocks noGrp="1"/>
          </p:cNvSpPr>
          <p:nvPr/>
        </p:nvSpPr>
        <p:spPr>
          <a:xfrm>
            <a:off x="1171575" y="3781425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8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75" b="0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Boosting</a:t>
            </a:r>
            <a:r>
              <a:rPr lang="es-CO" sz="18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de árboles. Búsqueda con 50 </a:t>
            </a:r>
            <a:r>
              <a:rPr lang="es-CO" sz="1875" b="0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trials</a:t>
            </a:r>
            <a:r>
              <a:rPr lang="es-CO" sz="18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de </a:t>
            </a:r>
            <a:r>
              <a:rPr lang="es-CO" sz="1875" b="0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Optuna</a:t>
            </a:r>
            <a:endParaRPr lang="es-CO" sz="1875" b="0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A4A57D-D5AE-46C3-80C1-0F03810674F9}"/>
              </a:ext>
            </a:extLst>
          </p:cNvPr>
          <p:cNvSpPr>
            <a:spLocks noGrp="1"/>
          </p:cNvSpPr>
          <p:nvPr/>
        </p:nvSpPr>
        <p:spPr>
          <a:xfrm>
            <a:off x="1171575" y="43434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1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Transformer</a:t>
            </a:r>
            <a:r>
              <a:rPr lang="es-CO" sz="2175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</a:t>
            </a:r>
            <a:r>
              <a:rPr lang="es-CO" sz="2175" b="1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encoder</a:t>
            </a:r>
            <a:endParaRPr lang="es-CO" sz="2175" b="1" noProof="0" dirty="0">
              <a:solidFill>
                <a:srgbClr val="0A2B4B"/>
              </a:solidFill>
              <a:latin typeface="Gill Sans MT"/>
              <a:ea typeface="Gill Sans MT"/>
              <a:cs typeface="Gill Sans MT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F40046-3832-4E57-9100-53168828FA49}"/>
              </a:ext>
            </a:extLst>
          </p:cNvPr>
          <p:cNvSpPr>
            <a:spLocks noGrp="1"/>
          </p:cNvSpPr>
          <p:nvPr/>
        </p:nvSpPr>
        <p:spPr>
          <a:xfrm>
            <a:off x="1171575" y="476250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8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Atención sobre secuencias históricas por entidad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E2E37D-9CBD-4D5E-80A4-01A80D2EB48C}"/>
              </a:ext>
            </a:extLst>
          </p:cNvPr>
          <p:cNvSpPr>
            <a:spLocks noGrp="1"/>
          </p:cNvSpPr>
          <p:nvPr/>
        </p:nvSpPr>
        <p:spPr>
          <a:xfrm>
            <a:off x="1171575" y="5638800"/>
            <a:ext cx="99536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6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6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Comparación de las configuraciones evaluadas, con diferencias en sus entradas</a:t>
            </a:r>
          </a:p>
        </p:txBody>
      </p:sp>
    </p:spTree>
    <p:extLst>
      <p:ext uri="{BB962C8B-B14F-4D97-AF65-F5344CB8AC3E}">
        <p14:creationId xmlns:p14="http://schemas.microsoft.com/office/powerpoint/2010/main" val="307379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379637B-19BE-4D99-8CB8-31B47855E8C4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B1939B5-FB26-4DC3-A104-ED1D10EB28E9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Desempeño global de </a:t>
            </a:r>
            <a:r>
              <a:rPr lang="es-CO" sz="2550" b="1" noProof="0" dirty="0" err="1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LightGBM</a:t>
            </a:r>
            <a:endParaRPr lang="es-CO" sz="2550" b="1" noProof="0" dirty="0">
              <a:solidFill>
                <a:srgbClr val="FFFFFF"/>
              </a:solidFill>
              <a:latin typeface="Gill Sans MT"/>
              <a:ea typeface="Gill Sans MT"/>
              <a:cs typeface="Gill Sans M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513E73-4CB4-4AB4-A7AF-D3D30CCDB49E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B42E75-A656-48C3-BBB5-DCAD747D99CE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6/10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1016" y="2238375"/>
            <a:ext cx="3754217" cy="374332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500E38F-2900-40EF-A874-A9AEF60D1726}"/>
              </a:ext>
            </a:extLst>
          </p:cNvPr>
          <p:cNvSpPr>
            <a:spLocks noGrp="1"/>
          </p:cNvSpPr>
          <p:nvPr/>
        </p:nvSpPr>
        <p:spPr>
          <a:xfrm>
            <a:off x="7429500" y="2524125"/>
            <a:ext cx="3762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RMSE  9,33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782DBF7-C902-422A-973B-831293CFE5F0}"/>
              </a:ext>
            </a:extLst>
          </p:cNvPr>
          <p:cNvSpPr>
            <a:spLocks noGrp="1"/>
          </p:cNvSpPr>
          <p:nvPr/>
        </p:nvSpPr>
        <p:spPr>
          <a:xfrm>
            <a:off x="7429500" y="3190875"/>
            <a:ext cx="3762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MAE    6,21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B476DE-3D0D-418D-9D94-2855BDEBD732}"/>
              </a:ext>
            </a:extLst>
          </p:cNvPr>
          <p:cNvSpPr>
            <a:spLocks noGrp="1"/>
          </p:cNvSpPr>
          <p:nvPr/>
        </p:nvSpPr>
        <p:spPr>
          <a:xfrm>
            <a:off x="7429500" y="3857625"/>
            <a:ext cx="3762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R²        0,706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1FD75B-9839-48E3-950C-EC66B9924B58}"/>
              </a:ext>
            </a:extLst>
          </p:cNvPr>
          <p:cNvSpPr>
            <a:spLocks noGrp="1"/>
          </p:cNvSpPr>
          <p:nvPr/>
        </p:nvSpPr>
        <p:spPr>
          <a:xfrm>
            <a:off x="7429500" y="4791075"/>
            <a:ext cx="3810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Test externo 2024</a:t>
            </a:r>
          </a:p>
          <a:p>
            <a:pPr>
              <a:buNone/>
              <a:defRPr sz="195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n = 28.762</a:t>
            </a:r>
          </a:p>
        </p:txBody>
      </p:sp>
    </p:spTree>
    <p:extLst>
      <p:ext uri="{BB962C8B-B14F-4D97-AF65-F5344CB8AC3E}">
        <p14:creationId xmlns:p14="http://schemas.microsoft.com/office/powerpoint/2010/main" val="1473981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981C3DA-F244-4465-871B-A0A1F450C160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8DB53E-B31E-41AC-B090-1221A3ABBBD9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Comparación de modelos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589738-6DEC-45FB-8F5A-9D35DBB196AC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B88F8DF-30CF-41D6-81E5-D0035C78C03F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7/10</a:t>
            </a:r>
          </a:p>
        </p:txBody>
      </p:sp>
      <p:graphicFrame>
        <p:nvGraphicFramePr>
          <p:cNvPr id="12" name="Tabla 11"/>
          <p:cNvGraphicFramePr/>
          <p:nvPr>
            <p:extLst>
              <p:ext uri="{D42A27DB-BD31-4B8C-83A1-F6EECF244321}">
                <p14:modId xmlns:p14="http://schemas.microsoft.com/office/powerpoint/2010/main" val="3258450022"/>
              </p:ext>
            </p:extLst>
          </p:nvPr>
        </p:nvGraphicFramePr>
        <p:xfrm>
          <a:off x="1143000" y="2419350"/>
          <a:ext cx="10001250" cy="26193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FFFFFF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Modelo</a:t>
                      </a:r>
                    </a:p>
                  </a:txBody>
                  <a:tcPr>
                    <a:solidFill>
                      <a:srgbClr val="0A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FFFFFF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RMSE</a:t>
                      </a:r>
                    </a:p>
                  </a:txBody>
                  <a:tcPr>
                    <a:solidFill>
                      <a:srgbClr val="0A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FFFFFF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MAE</a:t>
                      </a:r>
                    </a:p>
                  </a:txBody>
                  <a:tcPr>
                    <a:solidFill>
                      <a:srgbClr val="0A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FFFFFF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R²</a:t>
                      </a:r>
                    </a:p>
                  </a:txBody>
                  <a:tcPr>
                    <a:solidFill>
                      <a:srgbClr val="0A2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Ridge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10,2294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7,2967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0,6467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Lasso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10,0722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7,0622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0,6575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CO" sz="2025" b="1" noProof="0" dirty="0" err="1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LightGBM</a:t>
                      </a:r>
                      <a:endParaRPr lang="es-CO" sz="2025" b="1" noProof="0" dirty="0">
                        <a:solidFill>
                          <a:srgbClr val="0A2B4B"/>
                        </a:solidFill>
                        <a:latin typeface="Gill Sans MT"/>
                        <a:ea typeface="Gill Sans MT"/>
                        <a:cs typeface="Gill Sans MT"/>
                      </a:endParaRPr>
                    </a:p>
                  </a:txBody>
                  <a:tcPr>
                    <a:solidFill>
                      <a:srgbClr val="D8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9,3293</a:t>
                      </a:r>
                    </a:p>
                  </a:txBody>
                  <a:tcPr>
                    <a:solidFill>
                      <a:srgbClr val="D8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6,2109</a:t>
                      </a:r>
                    </a:p>
                  </a:txBody>
                  <a:tcPr>
                    <a:solidFill>
                      <a:srgbClr val="D8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1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0,7062</a:t>
                      </a:r>
                    </a:p>
                  </a:txBody>
                  <a:tcPr>
                    <a:solidFill>
                      <a:srgbClr val="D8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CO" sz="2025" b="0" noProof="0" dirty="0" err="1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Transformer</a:t>
                      </a:r>
                      <a:endParaRPr lang="es-CO" sz="2025" b="0" noProof="0" dirty="0">
                        <a:solidFill>
                          <a:srgbClr val="0A2B4B"/>
                        </a:solidFill>
                        <a:latin typeface="Gill Sans MT"/>
                        <a:ea typeface="Gill Sans MT"/>
                        <a:cs typeface="Gill Sans M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16,8588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25" b="0" noProof="0" dirty="0">
                          <a:solidFill>
                            <a:srgbClr val="0A2B4B"/>
                          </a:solidFill>
                          <a:latin typeface="Gill Sans MT"/>
                          <a:ea typeface="Gill Sans MT"/>
                          <a:cs typeface="Gill Sans MT"/>
                        </a:rPr>
                        <a:t>0,0405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8AFD960-AF9B-42E4-B2AB-F3C50610577E}"/>
              </a:ext>
            </a:extLst>
          </p:cNvPr>
          <p:cNvSpPr>
            <a:spLocks noGrp="1"/>
          </p:cNvSpPr>
          <p:nvPr/>
        </p:nvSpPr>
        <p:spPr>
          <a:xfrm>
            <a:off x="1190625" y="522922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9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1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LightGBM</a:t>
            </a:r>
            <a:r>
              <a:rPr lang="es-CO" sz="19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obtuvo el menor RMSE y el mayor R²</a:t>
            </a:r>
          </a:p>
          <a:p>
            <a:pPr>
              <a:buNone/>
              <a:defRPr sz="195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950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en el conjunto de prueba 2024.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81F225D-47D6-4026-B4D2-53AF6457F734}"/>
              </a:ext>
            </a:extLst>
          </p:cNvPr>
          <p:cNvSpPr>
            <a:spLocks noGrp="1"/>
          </p:cNvSpPr>
          <p:nvPr/>
        </p:nvSpPr>
        <p:spPr>
          <a:xfrm>
            <a:off x="1190625" y="5695950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5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8443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A2040AE-A401-4E7C-9489-AC516C0384AA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E03B88C-A93B-4DAE-B658-1D4DA1DC1B11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Interpretabilidad mediante SHAP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474D59-BC38-4D88-B6E9-666ABC6549CD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D0F04C-18BE-4325-AD24-D212E19EB04A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8/10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25909" y="2200275"/>
            <a:ext cx="4101558" cy="385762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251D361-470A-483F-BDDF-E61230CCABF6}"/>
              </a:ext>
            </a:extLst>
          </p:cNvPr>
          <p:cNvSpPr>
            <a:spLocks noGrp="1"/>
          </p:cNvSpPr>
          <p:nvPr/>
        </p:nvSpPr>
        <p:spPr>
          <a:xfrm>
            <a:off x="7219950" y="2505075"/>
            <a:ext cx="40481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02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Principales contribuciones</a:t>
            </a:r>
          </a:p>
          <a:p>
            <a:pPr>
              <a:buNone/>
              <a:defRPr sz="202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predictivas observadas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5B98631-0ED3-4859-B0C6-B3BA27B5EBE6}"/>
              </a:ext>
            </a:extLst>
          </p:cNvPr>
          <p:cNvSpPr>
            <a:spLocks noGrp="1"/>
          </p:cNvSpPr>
          <p:nvPr/>
        </p:nvSpPr>
        <p:spPr>
          <a:xfrm>
            <a:off x="7219950" y="3476625"/>
            <a:ext cx="409575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1. Rezago reciente del</a:t>
            </a:r>
          </a:p>
          <a:p>
            <a:pPr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   PROMEDIO_GLOBAL</a:t>
            </a:r>
          </a:p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2. Segundo rezago global</a:t>
            </a:r>
          </a:p>
          <a:p>
            <a:pPr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800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3. Rezago de la prueba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F5BDA4-2237-4FF6-BE45-7B4F35AA0796}"/>
              </a:ext>
            </a:extLst>
          </p:cNvPr>
          <p:cNvSpPr>
            <a:spLocks noGrp="1"/>
          </p:cNvSpPr>
          <p:nvPr/>
        </p:nvSpPr>
        <p:spPr>
          <a:xfrm>
            <a:off x="7219950" y="5295900"/>
            <a:ext cx="4095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SHAP describe contribuciones</a:t>
            </a:r>
          </a:p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a la predicción, sin causalidad.</a:t>
            </a:r>
          </a:p>
        </p:txBody>
      </p:sp>
    </p:spTree>
    <p:extLst>
      <p:ext uri="{BB962C8B-B14F-4D97-AF65-F5344CB8AC3E}">
        <p14:creationId xmlns:p14="http://schemas.microsoft.com/office/powerpoint/2010/main" val="198561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4FB86C16-7037-400B-B97D-352C5DFEB8C8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5FD3DA2-E806-45C7-ACA6-DF93F6C717C0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Análisis de error y limitaciones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B57CF5C-72EA-4004-A1B1-AC245EC76962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DBA89F-658B-4837-96B1-E89C61310A4B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9/10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2346" y="2219325"/>
            <a:ext cx="4321057" cy="37623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F1AD576-D2CF-441B-985B-495D05844DE4}"/>
              </a:ext>
            </a:extLst>
          </p:cNvPr>
          <p:cNvSpPr>
            <a:spLocks noGrp="1"/>
          </p:cNvSpPr>
          <p:nvPr/>
        </p:nvSpPr>
        <p:spPr>
          <a:xfrm>
            <a:off x="7143750" y="237172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025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1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RMSE por departamento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EA9A1D-CD87-4205-8031-054F15AD07C5}"/>
              </a:ext>
            </a:extLst>
          </p:cNvPr>
          <p:cNvSpPr>
            <a:spLocks noGrp="1"/>
          </p:cNvSpPr>
          <p:nvPr/>
        </p:nvSpPr>
        <p:spPr>
          <a:xfrm>
            <a:off x="7143750" y="2895600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Sucre          ≈13 puntos</a:t>
            </a:r>
          </a:p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Chocó         ≈12 puntos</a:t>
            </a:r>
          </a:p>
          <a:p>
            <a:pPr>
              <a:buNone/>
              <a:def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sz="1800" b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Putumayo   ≈11 puntos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4FEA67-9124-479E-A4F2-607093740135}"/>
              </a:ext>
            </a:extLst>
          </p:cNvPr>
          <p:cNvSpPr>
            <a:spLocks noGrp="1"/>
          </p:cNvSpPr>
          <p:nvPr/>
        </p:nvSpPr>
        <p:spPr>
          <a:xfrm>
            <a:off x="7143750" y="4210050"/>
            <a:ext cx="4191000" cy="1638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Un único año de prueba</a:t>
            </a:r>
          </a:p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Datos agregados, sin covariables</a:t>
            </a:r>
          </a:p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socioeconómicas</a:t>
            </a:r>
          </a:p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Heterogeneidad del error</a:t>
            </a:r>
          </a:p>
          <a:p>
            <a:pPr>
              <a:buNone/>
              <a:defRPr sz="17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7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entre grupos</a:t>
            </a:r>
          </a:p>
        </p:txBody>
      </p:sp>
    </p:spTree>
    <p:extLst>
      <p:ext uri="{BB962C8B-B14F-4D97-AF65-F5344CB8AC3E}">
        <p14:creationId xmlns:p14="http://schemas.microsoft.com/office/powerpoint/2010/main" val="34965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46A844-DD42-4C4B-A705-2C6FBD76E30B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10620375" cy="619125"/>
          </a:xfrm>
          <a:prstGeom prst="rect">
            <a:avLst/>
          </a:prstGeom>
          <a:solidFill>
            <a:srgbClr val="0A2B4B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4A5007-4690-4887-B9C2-188F2DE4A277}"/>
              </a:ext>
            </a:extLst>
          </p:cNvPr>
          <p:cNvSpPr>
            <a:spLocks noGrp="1"/>
          </p:cNvSpPr>
          <p:nvPr/>
        </p:nvSpPr>
        <p:spPr>
          <a:xfrm>
            <a:off x="1009650" y="1457325"/>
            <a:ext cx="10287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550" b="1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Conclusiones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9A9507-7727-4924-8082-1A13431652B2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620375" cy="3981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8534A4-0842-4C34-8DDF-5E73E4B5FA52}"/>
              </a:ext>
            </a:extLst>
          </p:cNvPr>
          <p:cNvSpPr>
            <a:spLocks noGrp="1"/>
          </p:cNvSpPr>
          <p:nvPr/>
        </p:nvSpPr>
        <p:spPr>
          <a:xfrm>
            <a:off x="1571625" y="6286500"/>
            <a:ext cx="981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0">
                <a:solidFill>
                  <a:srgbClr val="FFFFFF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275" b="0" noProof="0" dirty="0">
                <a:solidFill>
                  <a:srgbClr val="FFFFFF"/>
                </a:solidFill>
                <a:latin typeface="Gill Sans MT"/>
                <a:ea typeface="Gill Sans MT"/>
                <a:cs typeface="Gill Sans MT"/>
              </a:rPr>
              <a:t>CONACIC 2026   10/10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D10592-516B-4121-89BC-71CF5F67FCEA}"/>
              </a:ext>
            </a:extLst>
          </p:cNvPr>
          <p:cNvSpPr>
            <a:spLocks noGrp="1"/>
          </p:cNvSpPr>
          <p:nvPr/>
        </p:nvSpPr>
        <p:spPr>
          <a:xfrm>
            <a:off x="1181100" y="2390775"/>
            <a:ext cx="9429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84FBAD-D4CB-43D1-8731-FE8F0FA47731}"/>
              </a:ext>
            </a:extLst>
          </p:cNvPr>
          <p:cNvSpPr>
            <a:spLocks noGrp="1"/>
          </p:cNvSpPr>
          <p:nvPr/>
        </p:nvSpPr>
        <p:spPr>
          <a:xfrm>
            <a:off x="1181100" y="2524125"/>
            <a:ext cx="9810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1. </a:t>
            </a:r>
            <a:r>
              <a:rPr lang="es-CO" sz="2175" b="0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LightGBM</a:t>
            </a:r>
            <a:r>
              <a:rPr lang="es-CO" sz="21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alcanzó RMSE 9,33 y R² 0,706</a:t>
            </a:r>
          </a:p>
          <a:p>
            <a:pPr>
              <a:buNone/>
              <a:defRPr sz="21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   en el test 2024.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2A8B7F-F3CF-4376-A84C-2FF6E534328A}"/>
              </a:ext>
            </a:extLst>
          </p:cNvPr>
          <p:cNvSpPr>
            <a:spLocks noGrp="1"/>
          </p:cNvSpPr>
          <p:nvPr/>
        </p:nvSpPr>
        <p:spPr>
          <a:xfrm>
            <a:off x="1181100" y="3533775"/>
            <a:ext cx="9810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50646A-92A2-4D7B-998B-63DD694B9460}"/>
              </a:ext>
            </a:extLst>
          </p:cNvPr>
          <p:cNvSpPr>
            <a:spLocks noGrp="1"/>
          </p:cNvSpPr>
          <p:nvPr/>
        </p:nvSpPr>
        <p:spPr>
          <a:xfrm>
            <a:off x="1181100" y="3476625"/>
            <a:ext cx="9810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2. Los rezagos históricos contienen la mayor</a:t>
            </a:r>
          </a:p>
          <a:p>
            <a:pPr>
              <a:buNone/>
              <a:defRPr sz="217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17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   señal predictiva observada.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1F1E14-E684-453D-B2B2-1CABF89A91AF}"/>
              </a:ext>
            </a:extLst>
          </p:cNvPr>
          <p:cNvSpPr>
            <a:spLocks noGrp="1"/>
          </p:cNvSpPr>
          <p:nvPr/>
        </p:nvSpPr>
        <p:spPr>
          <a:xfrm>
            <a:off x="1181100" y="4610100"/>
            <a:ext cx="9810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100" b="1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endParaRPr lang="es-CO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9AA4CE-767A-4FAD-8047-7D55B1872787}"/>
              </a:ext>
            </a:extLst>
          </p:cNvPr>
          <p:cNvSpPr>
            <a:spLocks noGrp="1"/>
          </p:cNvSpPr>
          <p:nvPr/>
        </p:nvSpPr>
        <p:spPr>
          <a:xfrm>
            <a:off x="1181100" y="4429125"/>
            <a:ext cx="9906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0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3. Se requiere ampliar la validación temporal y revisar</a:t>
            </a:r>
          </a:p>
          <a:p>
            <a:pPr>
              <a:buNone/>
              <a:defRPr sz="2025" b="0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2025" b="0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    la heterogeneidad entre grupos antes de un uso institucional.</a:t>
            </a:r>
          </a:p>
        </p:txBody>
      </p:sp>
      <p:sp>
        <p:nvSpPr>
          <p:cNvPr id="50" name="Trabajo futuro V3">
            <a:extLst>
              <a:ext uri="{FF2B5EF4-FFF2-40B4-BE49-F238E27FC236}">
                <a16:creationId xmlns:a16="http://schemas.microsoft.com/office/drawing/2014/main" id="{ACE90A6A-6D9B-4CFE-8D05-A30ECAFF0BD0}"/>
              </a:ext>
            </a:extLst>
          </p:cNvPr>
          <p:cNvSpPr>
            <a:spLocks noGrp="1"/>
          </p:cNvSpPr>
          <p:nvPr/>
        </p:nvSpPr>
        <p:spPr>
          <a:xfrm>
            <a:off x="1181100" y="558165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0A2B4B"/>
                </a:solidFill>
                <a:latin typeface="Gill Sans MT"/>
                <a:ea typeface="Gill Sans MT"/>
                <a:cs typeface="Gill Sans MT"/>
              </a:defRPr>
            </a:pPr>
            <a:r>
              <a:rPr lang="es-CO" sz="1575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Trabajo futuro: validación </a:t>
            </a:r>
            <a:r>
              <a:rPr lang="es-CO" sz="1575" noProof="0" dirty="0" err="1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walk</a:t>
            </a:r>
            <a:r>
              <a:rPr lang="es-CO" sz="1575" noProof="0" dirty="0">
                <a:solidFill>
                  <a:srgbClr val="0A2B4B"/>
                </a:solidFill>
                <a:latin typeface="Gill Sans MT"/>
                <a:ea typeface="Gill Sans MT"/>
                <a:cs typeface="Gill Sans MT"/>
              </a:rPr>
              <a:t>-forward, revisión de variables y evaluación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830742814"/>
      </p:ext>
    </p:extLst>
  </p:cSld>
  <p:clrMapOvr>
    <a:masterClrMapping/>
  </p:clrMapOvr>
</p:sld>
</file>

<file path=ppt/theme/theme1.xml><?xml version="1.0" encoding="utf-8"?>
<a:theme xmlns:a="http://schemas.openxmlformats.org/drawingml/2006/main" name="CONACIC2020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lumMod val="100000"/>
                <a:alpha val="9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>
          <a:solidFill>
            <a:schemeClr val="phClr">
              <a:lumMod val="90000"/>
            </a:schemeClr>
          </a:solidFill>
          <a:prstDash val="solid"/>
        </a:ln>
        <a:ln w="222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  <a:sat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  <a:satMod val="11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ACIC2020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lumMod val="100000"/>
                <a:alpha val="9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>
          <a:solidFill>
            <a:schemeClr val="phClr">
              <a:lumMod val="90000"/>
            </a:schemeClr>
          </a:solidFill>
          <a:prstDash val="solid"/>
        </a:ln>
        <a:ln w="222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  <a:sat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  <a:satMod val="11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407</Words>
  <Application>Microsoft Office PowerPoint</Application>
  <DocSecurity>0</DocSecurity>
  <PresentationFormat>Panorámica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Wingdings</vt:lpstr>
      <vt:lpstr>Wingdings 2</vt:lpstr>
      <vt:lpstr>CONACIC2020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Edwin Santiago Paz Bedoya</cp:lastModifiedBy>
  <cp:revision>2</cp:revision>
  <dcterms:created xsi:type="dcterms:W3CDTF">2026-09-15T01:03:26Z</dcterms:created>
  <dcterms:modified xsi:type="dcterms:W3CDTF">2026-09-16T02:05:53Z</dcterms:modified>
</cp:coreProperties>
</file>